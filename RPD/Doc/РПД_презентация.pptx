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6" r:id="rId3"/>
    <p:sldId id="259" r:id="rId4"/>
    <p:sldId id="260" r:id="rId5"/>
    <p:sldId id="262" r:id="rId6"/>
    <p:sldId id="264" r:id="rId7"/>
    <p:sldId id="269" r:id="rId8"/>
    <p:sldId id="263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embeddedFontLst>
    <p:embeddedFont>
      <p:font typeface="MS Mincho" panose="02020609040205080304" pitchFamily="49" charset="-128"/>
      <p:regular r:id="rId19"/>
    </p:embeddedFont>
    <p:embeddedFont>
      <p:font typeface="Arial Narrow" panose="020B0606020202030204" pitchFamily="34" charset="0"/>
      <p:regular r:id="rId20"/>
      <p:bold r:id="rId21"/>
      <p:italic r:id="rId22"/>
      <p:boldItalic r:id="rId23"/>
    </p:embeddedFont>
    <p:embeddedFont>
      <p:font typeface="Bahnschrift Condensed" panose="020B0502040204020203" pitchFamily="34" charset="0"/>
      <p:regular r:id="rId24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7B4"/>
    <a:srgbClr val="015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420F8-E404-56F6-01BF-D620F6F44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750" y="1346199"/>
            <a:ext cx="8321675" cy="261620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D31339-7AFD-2D24-00E8-21382C406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4825" y="4140199"/>
            <a:ext cx="6959600" cy="127285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1D419-8A47-C83F-B62B-028DC49F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961BA7-0F5E-037D-1E53-53BD6A01D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BD46F-56D0-96FA-A06A-EB3CD3A5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0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ED201-7772-8999-E8A9-FD3B4D74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600" y="1036319"/>
            <a:ext cx="6426200" cy="846771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3EC768-1269-73BA-4AA7-928E39EDF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2479"/>
            <a:ext cx="10515600" cy="41144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A722B5-04CA-4510-BF49-FF09E109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827CF9-7CF1-C1F4-3867-E2DC5C0E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9E7F5E-508B-AE73-E326-B56CB442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42ADBF-A44F-D4BA-4D0B-9FF31B796F9F}"/>
              </a:ext>
            </a:extLst>
          </p:cNvPr>
          <p:cNvSpPr/>
          <p:nvPr userDrawn="1"/>
        </p:nvSpPr>
        <p:spPr>
          <a:xfrm>
            <a:off x="741680" y="416560"/>
            <a:ext cx="579120" cy="619759"/>
          </a:xfrm>
          <a:prstGeom prst="rect">
            <a:avLst/>
          </a:prstGeom>
          <a:solidFill>
            <a:srgbClr val="0152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1DBF442-9E80-C867-ADDE-E8E27F8C756C}"/>
              </a:ext>
            </a:extLst>
          </p:cNvPr>
          <p:cNvSpPr/>
          <p:nvPr userDrawn="1"/>
        </p:nvSpPr>
        <p:spPr>
          <a:xfrm>
            <a:off x="1645920" y="243840"/>
            <a:ext cx="3129280" cy="1046480"/>
          </a:xfrm>
          <a:prstGeom prst="rect">
            <a:avLst/>
          </a:prstGeom>
          <a:gradFill>
            <a:gsLst>
              <a:gs pos="0">
                <a:srgbClr val="0152CA"/>
              </a:gs>
              <a:gs pos="95000">
                <a:srgbClr val="0147B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4DCDAB9-F6C2-2DD1-4977-15662EA580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6238" y="334963"/>
            <a:ext cx="3128962" cy="77311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buNone/>
              <a:defRPr sz="4000">
                <a:solidFill>
                  <a:schemeClr val="bg1"/>
                </a:solidFill>
                <a:latin typeface="Bahnschrift Condensed" panose="020B0502040204020203" pitchFamily="34" charset="0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81131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89404-D857-FBE2-B54D-0772352E9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0C82D7-9B0E-A10C-BBBA-52512CEE7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641433-FE07-5B71-4560-B7047F2E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D027DA-4B01-4D0C-E1E1-D2B86614E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84295C-3527-AB49-A6A0-E47E3FDB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141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1ABD2-B549-FE07-7FC6-AE361B101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908" y="1163782"/>
            <a:ext cx="6042891" cy="127995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D130BE-828B-A664-75A9-93E35936C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3127"/>
            <a:ext cx="5181600" cy="35538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B3CDA1-6B62-6246-F684-CD536BEE5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23125"/>
            <a:ext cx="5181600" cy="35538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4486FC-C927-19A1-2B34-FFCE15C7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B686E2-DF9F-B2D0-4BF4-8A5ED6BB1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397902-CC56-4909-8D50-36AF0CE2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425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BAE32-A9A1-F044-33A4-B996EB886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1440" y="1177925"/>
            <a:ext cx="6720840" cy="76263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0AA08B-CDC0-6156-A1E9-834FE5BC4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CAFE961-37B2-85A0-DA69-30283914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9545C49-4606-784F-401E-5B5604DE4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288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4FF525E-8243-0532-019F-C7AB3EE4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B5FDE0F-145C-E083-1116-8CA791E4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21D7F2-4A13-2B94-D627-528FAEFA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83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BCB60-9F85-F8E1-E12C-90AE7EB91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79418"/>
            <a:ext cx="3932237" cy="72563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3CF07A-AAD5-043F-72D9-F707EDC75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B0CC57-9544-9866-CF7B-B5BE7D57E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52700"/>
            <a:ext cx="3932237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47F268-2587-16BF-3A2A-AFDA9066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18F6DB-D293-9FE8-6FF3-9F054F28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8BDA1D-775A-1F8D-2D67-B2CD53E4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28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72D2B-FBA5-DC07-5DA8-90DC31DC4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919E07-E307-4883-F8BD-336D6EF4E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731099-E0F9-4759-607D-E9305B98E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2B218C-8E35-9F0B-17FB-A511B801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FF4848-C6DE-B642-7156-F5BEAD72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A448F5-DA76-9143-D8C9-B1EDF459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99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EBD2DA-6DE2-81CD-CC33-A890CDD4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AB9839-F845-179F-C1A0-C8FB7BCD2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FF22E-0921-A448-190D-626EAA58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7574D9-2B40-ACBA-73A5-DE8DE8B9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05268B-9B80-B135-D055-1C89EB7F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487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EC7B34C-BD0B-5E45-AF2B-49E93EF99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82C78C-C95D-8DB9-5155-B74718976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2F84E-32DF-047A-981E-626B653F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07A44C-30C6-BF2C-C23C-E793A504A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B584CD-37A0-A474-E103-B44665C50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09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B515B-32E4-F146-16EE-C1A5A31B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CA0430-CD61-D9D1-6B5A-A182D97F7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2D03E1-6603-18DE-7F1A-01A14114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CD627-9EAC-44CE-8992-2DF90AD60B33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6E88CB-0338-5022-91CC-4FB812A37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AC1B75-0DAE-08CD-F6C2-9BFD8143C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CCEF8-6B99-44DC-9D1A-2018AA864F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3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642B5-620B-81D5-D861-84714B0B2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0932" y="1346199"/>
            <a:ext cx="8321675" cy="1371602"/>
          </a:xfrm>
        </p:spPr>
        <p:txBody>
          <a:bodyPr>
            <a:noAutofit/>
          </a:bodyPr>
          <a:lstStyle/>
          <a:p>
            <a:pPr algn="r"/>
            <a:r>
              <a:rPr lang="ru-RU" sz="4800" b="1" dirty="0">
                <a:solidFill>
                  <a:srgbClr val="0147B4"/>
                </a:solidFill>
                <a:latin typeface="Bahnschrift Condensed" panose="020B0502040204020203" pitchFamily="34" charset="0"/>
              </a:rPr>
              <a:t>РАБОЧИЙ ПРОЕКТ РПД</a:t>
            </a:r>
            <a:br>
              <a:rPr lang="ru-RU" sz="4800" b="1" dirty="0">
                <a:solidFill>
                  <a:srgbClr val="0147B4"/>
                </a:solidFill>
                <a:latin typeface="Bahnschrift Condensed" panose="020B0502040204020203" pitchFamily="34" charset="0"/>
              </a:rPr>
            </a:br>
            <a:r>
              <a:rPr lang="ru-RU" sz="4800" b="1" dirty="0">
                <a:solidFill>
                  <a:srgbClr val="0147B4"/>
                </a:solidFill>
                <a:latin typeface="Bahnschrift Condensed" panose="020B0502040204020203" pitchFamily="34" charset="0"/>
              </a:rPr>
              <a:t>«Управление проектами в сфере ИИ»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2D8914-E7F5-F168-0E1D-1DF189F17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3007" y="2948707"/>
            <a:ext cx="6959600" cy="1617246"/>
          </a:xfrm>
        </p:spPr>
        <p:txBody>
          <a:bodyPr/>
          <a:lstStyle/>
          <a:p>
            <a:pPr algn="r"/>
            <a:r>
              <a:rPr lang="ru-RU" dirty="0">
                <a:solidFill>
                  <a:srgbClr val="0147B4"/>
                </a:solidFill>
                <a:latin typeface="Arial Narrow" panose="020B0606020202030204" pitchFamily="34" charset="0"/>
              </a:rPr>
              <a:t>ДПО "Преподавание современного ИИ на топ-уровне: системное видение"</a:t>
            </a:r>
          </a:p>
          <a:p>
            <a:pPr algn="r"/>
            <a:br>
              <a:rPr lang="ru-RU" dirty="0">
                <a:solidFill>
                  <a:srgbClr val="0147B4"/>
                </a:solidFill>
                <a:latin typeface="Arial Narrow" panose="020B0606020202030204" pitchFamily="34" charset="0"/>
              </a:rPr>
            </a:br>
            <a:r>
              <a:rPr lang="ru-RU" dirty="0">
                <a:solidFill>
                  <a:srgbClr val="0147B4"/>
                </a:solidFill>
                <a:latin typeface="Arial Narrow" panose="020B0606020202030204" pitchFamily="34" charset="0"/>
              </a:rPr>
              <a:t>Группа №40 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CB06384-6F28-4B73-BC2B-BC5774820A29}"/>
              </a:ext>
            </a:extLst>
          </p:cNvPr>
          <p:cNvSpPr txBox="1">
            <a:spLocks/>
          </p:cNvSpPr>
          <p:nvPr/>
        </p:nvSpPr>
        <p:spPr>
          <a:xfrm>
            <a:off x="3853007" y="4565953"/>
            <a:ext cx="6959600" cy="1891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200" dirty="0" err="1">
                <a:solidFill>
                  <a:srgbClr val="0147B4"/>
                </a:solidFill>
                <a:latin typeface="Arial Narrow" panose="020B0606020202030204" pitchFamily="34" charset="0"/>
              </a:rPr>
              <a:t>Крошилина</a:t>
            </a:r>
            <a:r>
              <a:rPr lang="ru-RU" sz="1200" dirty="0">
                <a:solidFill>
                  <a:srgbClr val="0147B4"/>
                </a:solidFill>
                <a:latin typeface="Arial Narrow" panose="020B0606020202030204" pitchFamily="34" charset="0"/>
              </a:rPr>
              <a:t> Светлана Владимировна</a:t>
            </a:r>
          </a:p>
          <a:p>
            <a:pPr algn="r"/>
            <a:r>
              <a:rPr lang="ru-RU" sz="1200" dirty="0">
                <a:solidFill>
                  <a:srgbClr val="0147B4"/>
                </a:solidFill>
                <a:latin typeface="Arial Narrow" panose="020B0606020202030204" pitchFamily="34" charset="0"/>
              </a:rPr>
              <a:t>Исупова Наталья Ивановна</a:t>
            </a:r>
          </a:p>
          <a:p>
            <a:pPr algn="r"/>
            <a:r>
              <a:rPr lang="ru-RU" sz="1200" dirty="0" err="1">
                <a:solidFill>
                  <a:srgbClr val="0147B4"/>
                </a:solidFill>
                <a:latin typeface="Arial Narrow" panose="020B0606020202030204" pitchFamily="34" charset="0"/>
              </a:rPr>
              <a:t>Душкина</a:t>
            </a:r>
            <a:r>
              <a:rPr lang="ru-RU" sz="1200" dirty="0">
                <a:solidFill>
                  <a:srgbClr val="0147B4"/>
                </a:solidFill>
                <a:latin typeface="Arial Narrow" panose="020B0606020202030204" pitchFamily="34" charset="0"/>
              </a:rPr>
              <a:t> Елена Николаевна</a:t>
            </a:r>
          </a:p>
          <a:p>
            <a:pPr algn="r"/>
            <a:r>
              <a:rPr lang="ru-RU" sz="1200" dirty="0" err="1">
                <a:solidFill>
                  <a:srgbClr val="0147B4"/>
                </a:solidFill>
                <a:latin typeface="Arial Narrow" panose="020B0606020202030204" pitchFamily="34" charset="0"/>
              </a:rPr>
              <a:t>Борзин</a:t>
            </a:r>
            <a:r>
              <a:rPr lang="ru-RU" sz="1200" dirty="0">
                <a:solidFill>
                  <a:srgbClr val="0147B4"/>
                </a:solidFill>
                <a:latin typeface="Arial Narrow" panose="020B0606020202030204" pitchFamily="34" charset="0"/>
              </a:rPr>
              <a:t> Роман Юрьевич</a:t>
            </a:r>
          </a:p>
          <a:p>
            <a:pPr algn="r"/>
            <a:r>
              <a:rPr lang="ru-RU" sz="1200" dirty="0">
                <a:solidFill>
                  <a:srgbClr val="0147B4"/>
                </a:solidFill>
                <a:latin typeface="Arial Narrow" panose="020B0606020202030204" pitchFamily="34" charset="0"/>
              </a:rPr>
              <a:t>Кошелев Антон Александрович</a:t>
            </a:r>
          </a:p>
        </p:txBody>
      </p:sp>
    </p:spTree>
    <p:extLst>
      <p:ext uri="{BB962C8B-B14F-4D97-AF65-F5344CB8AC3E}">
        <p14:creationId xmlns:p14="http://schemas.microsoft.com/office/powerpoint/2010/main" val="2759350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93608AC-C2C4-8451-1C63-F292879F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109" y="1215708"/>
            <a:ext cx="6426200" cy="846771"/>
          </a:xfrm>
        </p:spPr>
        <p:txBody>
          <a:bodyPr>
            <a:normAutofit/>
          </a:bodyPr>
          <a:lstStyle/>
          <a:p>
            <a:r>
              <a:rPr lang="ru-RU" b="1" dirty="0"/>
              <a:t>Цель дисциплины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D11270F-901B-C75D-FCC8-9A4D9FC4D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3571"/>
            <a:ext cx="10515600" cy="358339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</a:t>
            </a:r>
            <a:r>
              <a:rPr lang="en-US" dirty="0" err="1"/>
              <a:t>формировать</a:t>
            </a:r>
            <a:r>
              <a:rPr lang="en-US" dirty="0"/>
              <a:t> у </a:t>
            </a:r>
            <a:r>
              <a:rPr lang="en-US" dirty="0" err="1"/>
              <a:t>студентов</a:t>
            </a:r>
            <a:r>
              <a:rPr lang="en-US" dirty="0"/>
              <a:t> </a:t>
            </a:r>
            <a:r>
              <a:rPr lang="en-US" dirty="0" err="1"/>
              <a:t>компетенции</a:t>
            </a:r>
            <a:r>
              <a:rPr lang="en-US" dirty="0"/>
              <a:t> в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жизненным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 </a:t>
            </a:r>
            <a:r>
              <a:rPr lang="en-US" dirty="0" err="1"/>
              <a:t>проектов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разработке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искусственного</a:t>
            </a:r>
            <a:r>
              <a:rPr lang="en-US" dirty="0"/>
              <a:t> </a:t>
            </a:r>
            <a:r>
              <a:rPr lang="en-US" dirty="0" err="1"/>
              <a:t>интеллекта</a:t>
            </a:r>
            <a:r>
              <a:rPr lang="en-US" dirty="0"/>
              <a:t>, </a:t>
            </a:r>
            <a:r>
              <a:rPr lang="en-US" dirty="0" err="1"/>
              <a:t>позволяющие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, </a:t>
            </a:r>
            <a:r>
              <a:rPr lang="en-US" dirty="0" err="1"/>
              <a:t>планировать</a:t>
            </a:r>
            <a:r>
              <a:rPr lang="en-US" dirty="0"/>
              <a:t>, </a:t>
            </a:r>
            <a:r>
              <a:rPr lang="en-US" dirty="0" err="1"/>
              <a:t>сопровождать</a:t>
            </a:r>
            <a:r>
              <a:rPr lang="en-US" dirty="0"/>
              <a:t> и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ИИ-</a:t>
            </a:r>
            <a:r>
              <a:rPr lang="en-US" dirty="0" err="1"/>
              <a:t>проектов</a:t>
            </a:r>
            <a:r>
              <a:rPr lang="en-US" dirty="0"/>
              <a:t>, а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формировать</a:t>
            </a:r>
            <a:r>
              <a:rPr lang="en-US" dirty="0"/>
              <a:t> и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работой</a:t>
            </a:r>
            <a:r>
              <a:rPr lang="en-US" dirty="0"/>
              <a:t> </a:t>
            </a:r>
            <a:r>
              <a:rPr lang="en-US" dirty="0" err="1"/>
              <a:t>проектной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302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93608AC-C2C4-8451-1C63-F292879F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986" y="1052945"/>
            <a:ext cx="6426200" cy="846771"/>
          </a:xfrm>
        </p:spPr>
        <p:txBody>
          <a:bodyPr/>
          <a:lstStyle/>
          <a:p>
            <a:r>
              <a:rPr lang="ru-RU" b="1" dirty="0"/>
              <a:t>Задачи дисциплины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D11270F-901B-C75D-FCC8-9A4D9FC4D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586" y="1899716"/>
            <a:ext cx="10515600" cy="411448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– освоить ключевые принципы и методы оптимального выбора и применения  методологий управления проектами разработки программного обеспечения и систем ИИ, включая классические и гибкие подходы, а также стандарты управления проектами, применительно к специфике ИИ-разработки;</a:t>
            </a:r>
          </a:p>
          <a:p>
            <a:pPr marL="0" indent="0">
              <a:buNone/>
            </a:pPr>
            <a:r>
              <a:rPr lang="ru-RU" dirty="0"/>
              <a:t>– сформировать практические навыки применения инструментов проектного планирования (WBS, диаграмма </a:t>
            </a:r>
            <a:r>
              <a:rPr lang="ru-RU" dirty="0" err="1"/>
              <a:t>Ганта</a:t>
            </a:r>
            <a:r>
              <a:rPr lang="ru-RU" dirty="0"/>
              <a:t>, </a:t>
            </a:r>
            <a:r>
              <a:rPr lang="ru-RU" dirty="0" err="1"/>
              <a:t>канбан</a:t>
            </a:r>
            <a:r>
              <a:rPr lang="ru-RU" dirty="0"/>
              <a:t>-доски, RACI) и управления требованиями для организации работы проектной команды;</a:t>
            </a:r>
          </a:p>
          <a:p>
            <a:pPr marL="0" indent="0">
              <a:buNone/>
            </a:pPr>
            <a:r>
              <a:rPr lang="ru-RU" dirty="0"/>
              <a:t>– научить обосновывать технико-экономическую целесообразность проектных решений, оценивать трудоёмкость, сроки и стоимость проектных задач с учётом исследовательской составляющей и итеративности этапов, связанных с созданием компонентов ИИ;</a:t>
            </a:r>
          </a:p>
          <a:p>
            <a:pPr marL="0" indent="0">
              <a:buNone/>
            </a:pPr>
            <a:r>
              <a:rPr lang="ru-RU" dirty="0"/>
              <a:t>– развить умение идентифицировать и управлять рисками ИТ- и ИИ-проектов, в том числе связанными, с неопределённостью требований и технической реализацией алгоритмов машинного обучения, а также обусловленными информационной безопасностью;</a:t>
            </a:r>
          </a:p>
          <a:p>
            <a:pPr marL="0" indent="0">
              <a:buNone/>
            </a:pPr>
            <a:r>
              <a:rPr lang="ru-RU" dirty="0"/>
              <a:t>– сформировать навыки эффективного формирования и управления работой проектной команды с учётом жизненного цикла проекта, зон ответственности и принципов коммуникации между разработчиками, аналитиками данных и заказчиком.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184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A7FC9C-29FD-407E-853D-D6D750797F25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93608AC-C2C4-8451-1C63-F292879F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986" y="1263535"/>
            <a:ext cx="6426200" cy="63618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Профильные роли КРМ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0CC0622-53BC-4276-96ED-3D729C1EF8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367292"/>
              </p:ext>
            </p:extLst>
          </p:nvPr>
        </p:nvGraphicFramePr>
        <p:xfrm>
          <a:off x="838200" y="2260600"/>
          <a:ext cx="10515600" cy="3550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084028990"/>
                    </a:ext>
                  </a:extLst>
                </a:gridCol>
                <a:gridCol w="2406535">
                  <a:extLst>
                    <a:ext uri="{9D8B030D-6E8A-4147-A177-3AD203B41FA5}">
                      <a16:colId xmlns:a16="http://schemas.microsoft.com/office/drawing/2014/main" val="1062580644"/>
                    </a:ext>
                  </a:extLst>
                </a:gridCol>
                <a:gridCol w="4603865">
                  <a:extLst>
                    <a:ext uri="{9D8B030D-6E8A-4147-A177-3AD203B41FA5}">
                      <a16:colId xmlns:a16="http://schemas.microsoft.com/office/drawing/2014/main" val="18775815"/>
                    </a:ext>
                  </a:extLst>
                </a:gridCol>
              </a:tblGrid>
              <a:tr h="748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Роль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Статус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Функция в дисциплине и проекте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8545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PM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(Менеджер проектов ИИ)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основная</a:t>
                      </a:r>
                      <a:endParaRPr lang="ru-RU" sz="18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процессами создания ИИ-решений, координация команды разработки, планирование ресурсов, контроль сроков и оценка эффективности проекта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0267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 CDO</a:t>
                      </a:r>
                      <a:r>
                        <a:rPr lang="ru-RU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(Руководитель цифровой трансформации)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поддерживающая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проектирование новых путей формирования ценности в организации посредством применения ИИ, стратегическое планирование, управление изменениями и формирование портфеля ИИ-проектов</a:t>
                      </a:r>
                      <a:endParaRPr lang="ru-RU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5249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496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A3EC7F5-4582-461B-AD7B-B4612E8E5E0A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93608AC-C2C4-8451-1C63-F292879F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986" y="1263535"/>
            <a:ext cx="6426200" cy="63618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Компетенции и индикаторы по КРМ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F7A9D0C-87C2-4BF1-B0E9-3EEE887610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2224519"/>
              </p:ext>
            </p:extLst>
          </p:nvPr>
        </p:nvGraphicFramePr>
        <p:xfrm>
          <a:off x="216132" y="2115846"/>
          <a:ext cx="11787446" cy="453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712">
                  <a:extLst>
                    <a:ext uri="{9D8B030D-6E8A-4147-A177-3AD203B41FA5}">
                      <a16:colId xmlns:a16="http://schemas.microsoft.com/office/drawing/2014/main" val="3891252147"/>
                    </a:ext>
                  </a:extLst>
                </a:gridCol>
                <a:gridCol w="5300303">
                  <a:extLst>
                    <a:ext uri="{9D8B030D-6E8A-4147-A177-3AD203B41FA5}">
                      <a16:colId xmlns:a16="http://schemas.microsoft.com/office/drawing/2014/main" val="985391434"/>
                    </a:ext>
                  </a:extLst>
                </a:gridCol>
                <a:gridCol w="3278431">
                  <a:extLst>
                    <a:ext uri="{9D8B030D-6E8A-4147-A177-3AD203B41FA5}">
                      <a16:colId xmlns:a16="http://schemas.microsoft.com/office/drawing/2014/main" val="3484306560"/>
                    </a:ext>
                  </a:extLst>
                </a:gridCol>
              </a:tblGrid>
              <a:tr h="738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Код и направление компетенции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Индикаторы компетенции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Использованиев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дисциплине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5381234"/>
                  </a:ext>
                </a:extLst>
              </a:tr>
              <a:tr h="1897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Понимание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бизнес-проблемы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-1.1.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Формализует бизнес-цели и вырабатывает под них стратегии внедрения ИИ.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Выбирает оптимальные технологии под конкретные требования проекта внедрения ИИ.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-1.3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Готовит и ведет документы для реализации проектов в области ИИ.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анализ требований, постановка целей проекта, определение содержания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-проекта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015130"/>
                  </a:ext>
                </a:extLst>
              </a:tr>
              <a:tr h="1897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-4.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процессами жизненного цикла ИИ-продукта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LC-4.1.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Осуществляет запуск и ведение проекта в области ИИ, в том числе планирование и контроль задач, оценку ресурсов.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Координирует и контролирует работу команд проекта с целью достижения общих целей проекта.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планирование проекта, организация команды, управление сроками, коммуникациями и выбором методологии управления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4800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974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A3EC7F5-4582-461B-AD7B-B4612E8E5E0A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93608AC-C2C4-8451-1C63-F292879F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986" y="1263535"/>
            <a:ext cx="6426200" cy="63618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Компетенции и индикаторы по КРМ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F7A9D0C-87C2-4BF1-B0E9-3EEE887610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811048"/>
              </p:ext>
            </p:extLst>
          </p:nvPr>
        </p:nvGraphicFramePr>
        <p:xfrm>
          <a:off x="100677" y="2115846"/>
          <a:ext cx="11787446" cy="4631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068">
                  <a:extLst>
                    <a:ext uri="{9D8B030D-6E8A-4147-A177-3AD203B41FA5}">
                      <a16:colId xmlns:a16="http://schemas.microsoft.com/office/drawing/2014/main" val="3891252147"/>
                    </a:ext>
                  </a:extLst>
                </a:gridCol>
                <a:gridCol w="6631710">
                  <a:extLst>
                    <a:ext uri="{9D8B030D-6E8A-4147-A177-3AD203B41FA5}">
                      <a16:colId xmlns:a16="http://schemas.microsoft.com/office/drawing/2014/main" val="985391434"/>
                    </a:ext>
                  </a:extLst>
                </a:gridCol>
                <a:gridCol w="2882668">
                  <a:extLst>
                    <a:ext uri="{9D8B030D-6E8A-4147-A177-3AD203B41FA5}">
                      <a16:colId xmlns:a16="http://schemas.microsoft.com/office/drawing/2014/main" val="3484306560"/>
                    </a:ext>
                  </a:extLst>
                </a:gridCol>
              </a:tblGrid>
              <a:tr h="738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Код и направление компетенции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Индикаторы компетенции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Использование</a:t>
                      </a: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 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дисциплине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5381234"/>
                  </a:ext>
                </a:extLst>
              </a:tr>
              <a:tr h="15236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-7.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Экономика ИИ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LC-7.1.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Обосновывает достижимость технико-экономических показателей ИИ за счет </a:t>
                      </a:r>
                      <a:r>
                        <a:rPr lang="ru-RU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вредрения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различных методических и технологических решений.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LC-7.3. Оценивает риски внедрения ИИ, прогнозирует связанный с ними ущерб и дает оценку экономической эффективности на основе риск-аппетитов.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бюджетирование, оценка стоимости проекта, экономическая эффективность и управление рисками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015130"/>
                  </a:ext>
                </a:extLst>
              </a:tr>
              <a:tr h="1897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Командная работа, коммуникации и лидерство в ИИ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-2.1.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Эффективно коммуницирует с участниками проектной команды при планировании, реализации и анализе результатов работы в контексте гибридной команды "</a:t>
                      </a:r>
                      <a:r>
                        <a:rPr lang="ru-RU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Человек+ИИ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", включая постановку задач людям и ИИ-агентам, фиксацию договорённостей и критериев качества.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-2.2.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Учитывает профессиональные и ролевые особенности коллег и контур ИИ-компонентов: адаптирует язык под аудиторию (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tech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product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level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), распределяет ответственность (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RACI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 и представляет результаты в понятном формате.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распределение ролей, взаимодействие участников проекта и управление коммуникациями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4800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41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4FBFF5E-A2D0-444F-94E0-A9C3B7CB1A27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93608AC-C2C4-8451-1C63-F292879F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109" y="1215708"/>
            <a:ext cx="6426200" cy="846771"/>
          </a:xfrm>
        </p:spPr>
        <p:txBody>
          <a:bodyPr>
            <a:normAutofit/>
          </a:bodyPr>
          <a:lstStyle/>
          <a:p>
            <a:r>
              <a:rPr lang="ru-RU" b="1" dirty="0"/>
              <a:t>Место в учебном плане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D11270F-901B-C75D-FCC8-9A4D9FC4D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827" y="2058901"/>
            <a:ext cx="10515600" cy="358339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Дисциплина изучается в </a:t>
            </a:r>
            <a:r>
              <a:rPr lang="ru-RU" b="1" dirty="0"/>
              <a:t>7 семестре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Трудоемкость - </a:t>
            </a:r>
            <a:r>
              <a:rPr lang="ru-RU" b="1" dirty="0"/>
              <a:t>108 ч.</a:t>
            </a:r>
            <a:r>
              <a:rPr lang="ru-RU" dirty="0"/>
              <a:t>, </a:t>
            </a:r>
            <a:r>
              <a:rPr lang="ru-RU" b="1" dirty="0"/>
              <a:t>3 </a:t>
            </a:r>
            <a:r>
              <a:rPr lang="ru-RU" b="1" dirty="0" err="1"/>
              <a:t>з.е</a:t>
            </a:r>
            <a:r>
              <a:rPr lang="ru-RU" b="1" dirty="0"/>
              <a:t>.</a:t>
            </a:r>
          </a:p>
        </p:txBody>
      </p:sp>
      <p:graphicFrame>
        <p:nvGraphicFramePr>
          <p:cNvPr id="4" name="Объект 6">
            <a:extLst>
              <a:ext uri="{FF2B5EF4-FFF2-40B4-BE49-F238E27FC236}">
                <a16:creationId xmlns:a16="http://schemas.microsoft.com/office/drawing/2014/main" id="{226C3DEA-6D44-46A1-A762-01AEC5804A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2750590"/>
              </p:ext>
            </p:extLst>
          </p:nvPr>
        </p:nvGraphicFramePr>
        <p:xfrm>
          <a:off x="554182" y="3186545"/>
          <a:ext cx="11132128" cy="3417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6064">
                  <a:extLst>
                    <a:ext uri="{9D8B030D-6E8A-4147-A177-3AD203B41FA5}">
                      <a16:colId xmlns:a16="http://schemas.microsoft.com/office/drawing/2014/main" val="4101253603"/>
                    </a:ext>
                  </a:extLst>
                </a:gridCol>
                <a:gridCol w="5566064">
                  <a:extLst>
                    <a:ext uri="{9D8B030D-6E8A-4147-A177-3AD203B41FA5}">
                      <a16:colId xmlns:a16="http://schemas.microsoft.com/office/drawing/2014/main" val="1383972924"/>
                    </a:ext>
                  </a:extLst>
                </a:gridCol>
              </a:tblGrid>
              <a:tr h="61464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Вид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нагрузки</a:t>
                      </a:r>
                      <a:endParaRPr lang="ru-RU" sz="11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Часы</a:t>
                      </a:r>
                      <a:endParaRPr lang="ru-RU" sz="1100" dirty="0">
                        <a:solidFill>
                          <a:schemeClr val="bg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5694884"/>
                  </a:ext>
                </a:extLst>
              </a:tr>
              <a:tr h="350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Лекции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24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4402910"/>
                  </a:ext>
                </a:extLst>
              </a:tr>
              <a:tr h="350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Лабораторные работы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12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0041641"/>
                  </a:ext>
                </a:extLst>
              </a:tr>
              <a:tr h="350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Практические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занятия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12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8172389"/>
                  </a:ext>
                </a:extLst>
              </a:tr>
              <a:tr h="350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Самостоятельная работа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13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8180131"/>
                  </a:ext>
                </a:extLst>
              </a:tr>
              <a:tr h="350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Консультирование перед экзаменом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2482786"/>
                  </a:ext>
                </a:extLst>
              </a:tr>
              <a:tr h="350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Сдача экзамена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0,35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7715292"/>
                  </a:ext>
                </a:extLst>
              </a:tr>
              <a:tr h="350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Часы на контроль 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44,65</a:t>
                      </a:r>
                      <a:endParaRPr lang="ru-RU" sz="105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6348518"/>
                  </a:ext>
                </a:extLst>
              </a:tr>
              <a:tr h="350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ИТОГО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108</a:t>
                      </a:r>
                      <a:endParaRPr lang="ru-RU" sz="105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8143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995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AC7242-4034-42FE-8894-34822C885C95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1460C-3D32-4D62-97D6-27D58CE9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454" y="968881"/>
            <a:ext cx="6426200" cy="84677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Структура и содержание РПД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2DC5406-7E94-4CB4-8DB6-38128F903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5102119"/>
              </p:ext>
            </p:extLst>
          </p:nvPr>
        </p:nvGraphicFramePr>
        <p:xfrm>
          <a:off x="184727" y="1680586"/>
          <a:ext cx="11684002" cy="5112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642">
                  <a:extLst>
                    <a:ext uri="{9D8B030D-6E8A-4147-A177-3AD203B41FA5}">
                      <a16:colId xmlns:a16="http://schemas.microsoft.com/office/drawing/2014/main" val="943679827"/>
                    </a:ext>
                  </a:extLst>
                </a:gridCol>
                <a:gridCol w="3331249">
                  <a:extLst>
                    <a:ext uri="{9D8B030D-6E8A-4147-A177-3AD203B41FA5}">
                      <a16:colId xmlns:a16="http://schemas.microsoft.com/office/drawing/2014/main" val="3891156837"/>
                    </a:ext>
                  </a:extLst>
                </a:gridCol>
                <a:gridCol w="3029527">
                  <a:extLst>
                    <a:ext uri="{9D8B030D-6E8A-4147-A177-3AD203B41FA5}">
                      <a16:colId xmlns:a16="http://schemas.microsoft.com/office/drawing/2014/main" val="397258014"/>
                    </a:ext>
                  </a:extLst>
                </a:gridCol>
                <a:gridCol w="600364">
                  <a:extLst>
                    <a:ext uri="{9D8B030D-6E8A-4147-A177-3AD203B41FA5}">
                      <a16:colId xmlns:a16="http://schemas.microsoft.com/office/drawing/2014/main" val="1798368872"/>
                    </a:ext>
                  </a:extLst>
                </a:gridCol>
                <a:gridCol w="517236">
                  <a:extLst>
                    <a:ext uri="{9D8B030D-6E8A-4147-A177-3AD203B41FA5}">
                      <a16:colId xmlns:a16="http://schemas.microsoft.com/office/drawing/2014/main" val="3507293009"/>
                    </a:ext>
                  </a:extLst>
                </a:gridCol>
                <a:gridCol w="424873">
                  <a:extLst>
                    <a:ext uri="{9D8B030D-6E8A-4147-A177-3AD203B41FA5}">
                      <a16:colId xmlns:a16="http://schemas.microsoft.com/office/drawing/2014/main" val="945401217"/>
                    </a:ext>
                  </a:extLst>
                </a:gridCol>
                <a:gridCol w="387927">
                  <a:extLst>
                    <a:ext uri="{9D8B030D-6E8A-4147-A177-3AD203B41FA5}">
                      <a16:colId xmlns:a16="http://schemas.microsoft.com/office/drawing/2014/main" val="190156946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72358962"/>
                    </a:ext>
                  </a:extLst>
                </a:gridCol>
                <a:gridCol w="858984">
                  <a:extLst>
                    <a:ext uri="{9D8B030D-6E8A-4147-A177-3AD203B41FA5}">
                      <a16:colId xmlns:a16="http://schemas.microsoft.com/office/drawing/2014/main" val="2733806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br>
                        <a:rPr lang="ru-RU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500" dirty="0"/>
                        <a:t>(тематические сущности)</a:t>
                      </a:r>
                      <a:endParaRPr lang="ru-RU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Результат</a:t>
                      </a:r>
                      <a:r>
                        <a:rPr lang="en-US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обучения</a:t>
                      </a:r>
                      <a:endParaRPr lang="ru-RU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Л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ЛР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СР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Индикаторы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  <a:endParaRPr lang="ru-RU" sz="15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9345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b="1" i="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1.</a:t>
                      </a: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Проекты и среда управления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Понятие проекта и продукта. Жизненный цикл проекта. Проектное и продуктовое управление. Технико-экономическое обоснование проекта. Формирование команды проекта и основные роли. Проектная документация (устав проекта, план управления, документация на данные, модели и </a:t>
                      </a:r>
                      <a:r>
                        <a:rPr lang="en-US" sz="15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MLOps</a:t>
                      </a: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). </a:t>
                      </a:r>
                      <a:r>
                        <a:rPr lang="en-US" sz="15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Эволюция</a:t>
                      </a: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проектного</a:t>
                      </a: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управления</a:t>
                      </a:r>
                      <a:endParaRPr lang="ru-RU" sz="15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9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Определяет и формализует проблему предметной области, решение которой требует применения ИИ; формализует особенности проектов в сфере ИИ; понимает общую цель команды и участвует в обсуждении задач планирования и реализации проекта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5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5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LC-1.1–</a:t>
                      </a:r>
                      <a:br>
                        <a:rPr lang="ru-RU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</a:br>
                      <a:r>
                        <a:rPr lang="en-US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LC-1.3;</a:t>
                      </a:r>
                      <a:br>
                        <a:rPr lang="ru-RU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</a:br>
                      <a:r>
                        <a:rPr lang="en-US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SS-2.1</a:t>
                      </a:r>
                      <a:endParaRPr lang="ru-RU" sz="15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Б/П</a:t>
                      </a:r>
                      <a:endParaRPr lang="ru-RU" sz="15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06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b="1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</a:t>
                      </a:r>
                      <a:r>
                        <a:rPr lang="en-US" sz="1500" b="1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2.</a:t>
                      </a: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содержанием</a:t>
                      </a: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5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проекта</a:t>
                      </a:r>
                      <a:endParaRPr lang="ru-RU" sz="15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Определение целей и содержания проекта. </a:t>
                      </a: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Impact Mapping. Customer Journey Mapping. User Story Mapping</a:t>
                      </a: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MBO</a:t>
                      </a: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WBS</a:t>
                      </a: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SWOT</a:t>
                      </a: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-анализ. «Шесть сигм». Разработка устава </a:t>
                      </a: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-проекта, анализ стейкхолдеров и требований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Проводит анализ требований к системе ИИ, оценивает и разрабатывает технические требования; формализует бизнес-цель заказчика, выявляет заинтересованные стороны и разрабатывает ТЗ на систему 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5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5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5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5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3610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628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AC7242-4034-42FE-8894-34822C885C95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1460C-3D32-4D62-97D6-27D58CE9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454" y="968881"/>
            <a:ext cx="6426200" cy="84677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Структура и содержание РПД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2DC5406-7E94-4CB4-8DB6-38128F903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027694"/>
              </p:ext>
            </p:extLst>
          </p:nvPr>
        </p:nvGraphicFramePr>
        <p:xfrm>
          <a:off x="184727" y="1680586"/>
          <a:ext cx="11684002" cy="4997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642">
                  <a:extLst>
                    <a:ext uri="{9D8B030D-6E8A-4147-A177-3AD203B41FA5}">
                      <a16:colId xmlns:a16="http://schemas.microsoft.com/office/drawing/2014/main" val="943679827"/>
                    </a:ext>
                  </a:extLst>
                </a:gridCol>
                <a:gridCol w="3331249">
                  <a:extLst>
                    <a:ext uri="{9D8B030D-6E8A-4147-A177-3AD203B41FA5}">
                      <a16:colId xmlns:a16="http://schemas.microsoft.com/office/drawing/2014/main" val="3891156837"/>
                    </a:ext>
                  </a:extLst>
                </a:gridCol>
                <a:gridCol w="2881746">
                  <a:extLst>
                    <a:ext uri="{9D8B030D-6E8A-4147-A177-3AD203B41FA5}">
                      <a16:colId xmlns:a16="http://schemas.microsoft.com/office/drawing/2014/main" val="397258014"/>
                    </a:ext>
                  </a:extLst>
                </a:gridCol>
                <a:gridCol w="498763">
                  <a:extLst>
                    <a:ext uri="{9D8B030D-6E8A-4147-A177-3AD203B41FA5}">
                      <a16:colId xmlns:a16="http://schemas.microsoft.com/office/drawing/2014/main" val="1798368872"/>
                    </a:ext>
                  </a:extLst>
                </a:gridCol>
                <a:gridCol w="544946">
                  <a:extLst>
                    <a:ext uri="{9D8B030D-6E8A-4147-A177-3AD203B41FA5}">
                      <a16:colId xmlns:a16="http://schemas.microsoft.com/office/drawing/2014/main" val="3507293009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945401217"/>
                    </a:ext>
                  </a:extLst>
                </a:gridCol>
                <a:gridCol w="387927">
                  <a:extLst>
                    <a:ext uri="{9D8B030D-6E8A-4147-A177-3AD203B41FA5}">
                      <a16:colId xmlns:a16="http://schemas.microsoft.com/office/drawing/2014/main" val="1901569461"/>
                    </a:ext>
                  </a:extLst>
                </a:gridCol>
                <a:gridCol w="1302328">
                  <a:extLst>
                    <a:ext uri="{9D8B030D-6E8A-4147-A177-3AD203B41FA5}">
                      <a16:colId xmlns:a16="http://schemas.microsoft.com/office/drawing/2014/main" val="4172358962"/>
                    </a:ext>
                  </a:extLst>
                </a:gridCol>
                <a:gridCol w="979056">
                  <a:extLst>
                    <a:ext uri="{9D8B030D-6E8A-4147-A177-3AD203B41FA5}">
                      <a16:colId xmlns:a16="http://schemas.microsoft.com/office/drawing/2014/main" val="2733806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b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dirty="0"/>
                        <a:t>(тематические сущности)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Результат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обучения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Л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ЛР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СР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Индикаторы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9345224"/>
                  </a:ext>
                </a:extLst>
              </a:tr>
              <a:tr h="8716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3. </a:t>
                      </a: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человеческими ресурсами проекта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Команда проекта. Матрица ответственности. Управление трудовыми ресурсами. 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R&amp;D-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команда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Самоорганизующиеся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команды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RACI.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Планирование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коммуникаций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Обеспечивает взаимодействие участников проекта; осуществляет коммуникации между аналитиками данных, инженерами, разработчиками и руководителями подразделений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LC-4.2;</a:t>
                      </a:r>
                      <a:b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SS-2.1–SS-2.2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Б/С</a:t>
                      </a:r>
                      <a:endParaRPr lang="ru-RU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06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4.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сроками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проекта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Сетевые модели. Календарное планирование. Оптимизация временных параметров проекта.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Диаграмма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Ганта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Критический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путь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Осуществляет ведение проекта в области ИИ, планирование и контроль задач, оценку ресурсов; подбирает методологию 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(CRISP-DM, CRISP-ML(Q)) и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организует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процесс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разработки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LC-4.1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Б/С</a:t>
                      </a:r>
                      <a:endParaRPr lang="ru-RU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3610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2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AC7242-4034-42FE-8894-34822C885C95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1460C-3D32-4D62-97D6-27D58CE9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454" y="968881"/>
            <a:ext cx="6426200" cy="84677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Структура и содержание РПД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2DC5406-7E94-4CB4-8DB6-38128F903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03223"/>
              </p:ext>
            </p:extLst>
          </p:nvPr>
        </p:nvGraphicFramePr>
        <p:xfrm>
          <a:off x="184727" y="1680586"/>
          <a:ext cx="11684002" cy="4833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642">
                  <a:extLst>
                    <a:ext uri="{9D8B030D-6E8A-4147-A177-3AD203B41FA5}">
                      <a16:colId xmlns:a16="http://schemas.microsoft.com/office/drawing/2014/main" val="943679827"/>
                    </a:ext>
                  </a:extLst>
                </a:gridCol>
                <a:gridCol w="3331249">
                  <a:extLst>
                    <a:ext uri="{9D8B030D-6E8A-4147-A177-3AD203B41FA5}">
                      <a16:colId xmlns:a16="http://schemas.microsoft.com/office/drawing/2014/main" val="3891156837"/>
                    </a:ext>
                  </a:extLst>
                </a:gridCol>
                <a:gridCol w="2881746">
                  <a:extLst>
                    <a:ext uri="{9D8B030D-6E8A-4147-A177-3AD203B41FA5}">
                      <a16:colId xmlns:a16="http://schemas.microsoft.com/office/drawing/2014/main" val="397258014"/>
                    </a:ext>
                  </a:extLst>
                </a:gridCol>
                <a:gridCol w="498763">
                  <a:extLst>
                    <a:ext uri="{9D8B030D-6E8A-4147-A177-3AD203B41FA5}">
                      <a16:colId xmlns:a16="http://schemas.microsoft.com/office/drawing/2014/main" val="1798368872"/>
                    </a:ext>
                  </a:extLst>
                </a:gridCol>
                <a:gridCol w="544946">
                  <a:extLst>
                    <a:ext uri="{9D8B030D-6E8A-4147-A177-3AD203B41FA5}">
                      <a16:colId xmlns:a16="http://schemas.microsoft.com/office/drawing/2014/main" val="3507293009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945401217"/>
                    </a:ext>
                  </a:extLst>
                </a:gridCol>
                <a:gridCol w="387927">
                  <a:extLst>
                    <a:ext uri="{9D8B030D-6E8A-4147-A177-3AD203B41FA5}">
                      <a16:colId xmlns:a16="http://schemas.microsoft.com/office/drawing/2014/main" val="1901569461"/>
                    </a:ext>
                  </a:extLst>
                </a:gridCol>
                <a:gridCol w="1302328">
                  <a:extLst>
                    <a:ext uri="{9D8B030D-6E8A-4147-A177-3AD203B41FA5}">
                      <a16:colId xmlns:a16="http://schemas.microsoft.com/office/drawing/2014/main" val="4172358962"/>
                    </a:ext>
                  </a:extLst>
                </a:gridCol>
                <a:gridCol w="979056">
                  <a:extLst>
                    <a:ext uri="{9D8B030D-6E8A-4147-A177-3AD203B41FA5}">
                      <a16:colId xmlns:a16="http://schemas.microsoft.com/office/drawing/2014/main" val="2733806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b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dirty="0"/>
                        <a:t>(тематические сущности)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Результат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обучения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Л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ЛР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СР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Индикаторы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9345224"/>
                  </a:ext>
                </a:extLst>
              </a:tr>
              <a:tr h="8716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5.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стоимостью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проекта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стоимостью проекта. Методика освоенного объёма. Бюджетирование инновационных проектов. Расчёт бюджета проекта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Знает ключевые технико-экономические показатели внедрения ИИ; строит расчётные модели оценки технико-экономических показателей и применяет их для прогнозирования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LC-7.1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Б/С</a:t>
                      </a:r>
                      <a:endParaRPr lang="ru-RU" sz="11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06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6.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качеством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проекта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Управление качеством проекта. Стандартизация. Диаграммы Парето. План управления качеством 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-продукта.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Метрики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качества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ML-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моделей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Подбирает методологию разработки системы ИИ; организует процесс контроля качества 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-продукта, применяет инструменты </a:t>
                      </a:r>
                      <a:r>
                        <a:rPr lang="ru-RU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приоритизации</a:t>
                      </a: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дефектов и метрики качества 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ML</a:t>
                      </a:r>
                      <a:r>
                        <a:rPr lang="ru-RU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-моделей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1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ru-RU" sz="11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LC-4.1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</a:t>
                      </a:r>
                      <a:endParaRPr lang="ru-RU" sz="11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3610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95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AC7242-4034-42FE-8894-34822C885C95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1460C-3D32-4D62-97D6-27D58CE9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454" y="968881"/>
            <a:ext cx="6426200" cy="84677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Структура и содержание РПД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32DC5406-7E94-4CB4-8DB6-38128F903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915063"/>
              </p:ext>
            </p:extLst>
          </p:nvPr>
        </p:nvGraphicFramePr>
        <p:xfrm>
          <a:off x="184727" y="1680586"/>
          <a:ext cx="11684002" cy="491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873">
                  <a:extLst>
                    <a:ext uri="{9D8B030D-6E8A-4147-A177-3AD203B41FA5}">
                      <a16:colId xmlns:a16="http://schemas.microsoft.com/office/drawing/2014/main" val="943679827"/>
                    </a:ext>
                  </a:extLst>
                </a:gridCol>
                <a:gridCol w="3205018">
                  <a:extLst>
                    <a:ext uri="{9D8B030D-6E8A-4147-A177-3AD203B41FA5}">
                      <a16:colId xmlns:a16="http://schemas.microsoft.com/office/drawing/2014/main" val="3891156837"/>
                    </a:ext>
                  </a:extLst>
                </a:gridCol>
                <a:gridCol w="2881746">
                  <a:extLst>
                    <a:ext uri="{9D8B030D-6E8A-4147-A177-3AD203B41FA5}">
                      <a16:colId xmlns:a16="http://schemas.microsoft.com/office/drawing/2014/main" val="397258014"/>
                    </a:ext>
                  </a:extLst>
                </a:gridCol>
                <a:gridCol w="498763">
                  <a:extLst>
                    <a:ext uri="{9D8B030D-6E8A-4147-A177-3AD203B41FA5}">
                      <a16:colId xmlns:a16="http://schemas.microsoft.com/office/drawing/2014/main" val="1798368872"/>
                    </a:ext>
                  </a:extLst>
                </a:gridCol>
                <a:gridCol w="544946">
                  <a:extLst>
                    <a:ext uri="{9D8B030D-6E8A-4147-A177-3AD203B41FA5}">
                      <a16:colId xmlns:a16="http://schemas.microsoft.com/office/drawing/2014/main" val="3507293009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945401217"/>
                    </a:ext>
                  </a:extLst>
                </a:gridCol>
                <a:gridCol w="387927">
                  <a:extLst>
                    <a:ext uri="{9D8B030D-6E8A-4147-A177-3AD203B41FA5}">
                      <a16:colId xmlns:a16="http://schemas.microsoft.com/office/drawing/2014/main" val="1901569461"/>
                    </a:ext>
                  </a:extLst>
                </a:gridCol>
                <a:gridCol w="1302328">
                  <a:extLst>
                    <a:ext uri="{9D8B030D-6E8A-4147-A177-3AD203B41FA5}">
                      <a16:colId xmlns:a16="http://schemas.microsoft.com/office/drawing/2014/main" val="4172358962"/>
                    </a:ext>
                  </a:extLst>
                </a:gridCol>
                <a:gridCol w="979056">
                  <a:extLst>
                    <a:ext uri="{9D8B030D-6E8A-4147-A177-3AD203B41FA5}">
                      <a16:colId xmlns:a16="http://schemas.microsoft.com/office/drawing/2014/main" val="2733806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</a:t>
                      </a:r>
                      <a:b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600" dirty="0"/>
                        <a:t>(тематические сущности)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Результат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обучения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Л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ЛР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СР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Индикаторы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Уровень</a:t>
                      </a:r>
                      <a:endParaRPr lang="ru-RU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9345224"/>
                  </a:ext>
                </a:extLst>
              </a:tr>
              <a:tr h="8716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7.</a:t>
                      </a: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Управление рисками и взаимодействием в проекте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Источники рисков проекта. Реестр рисков </a:t>
                      </a: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-10. Управление изменениями. Управление стейкхолдерами. Идентификация и оценка рисков </a:t>
                      </a: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</a:t>
                      </a: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-проектов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Знает ключевые риски внедрения ИИ; строит расчётные оценки экономического ущерба и разрабатывает модели экономических эффектов внедрения ИИ.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effectLst/>
                        <a:latin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LC-7.3; LC-4.2</a:t>
                      </a:r>
                      <a:endParaRPr lang="ru-RU" sz="14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Б/С</a:t>
                      </a:r>
                      <a:endParaRPr lang="ru-RU" sz="14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06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8. </a:t>
                      </a: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Методы и подходы к управлению проектами (гибкие методологии)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Выбор методологии управления на основе модели </a:t>
                      </a:r>
                      <a:r>
                        <a:rPr lang="en-US" sz="14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Cynefin</a:t>
                      </a: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Agile. Scrum. XP. Lean DS. </a:t>
                      </a:r>
                      <a:r>
                        <a:rPr lang="en-US" sz="14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Планирование</a:t>
                      </a: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спринта</a:t>
                      </a: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4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Стендапы</a:t>
                      </a: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4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Ретроспектива</a:t>
                      </a: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Организует процесс разработки системы ИИ по выбранной гибкой методологии; подбирает методологию управления ИИ-проектом и практически реализует её на конкретном проекте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effectLst/>
                        <a:latin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LC-4.1</a:t>
                      </a: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С/П</a:t>
                      </a:r>
                      <a:endParaRPr lang="ru-RU" sz="14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3610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Модуль 9. </a:t>
                      </a: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Программный инструментарий управления проектами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Среды управления проектами. Виды систем управления проектами. </a:t>
                      </a: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КСУП-</a:t>
                      </a:r>
                      <a:r>
                        <a:rPr lang="en-US" sz="14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системы</a:t>
                      </a: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Демонстрирует эффективное владение инструментами коммуникаций, проектного управления и контроля изменений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LC-4.2</a:t>
                      </a: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С</a:t>
                      </a:r>
                      <a:endParaRPr lang="ru-RU" sz="14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4750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40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AC7242-4034-42FE-8894-34822C885C95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A83A7D6D-9046-4AA9-BA32-3071418F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818" y="1056279"/>
            <a:ext cx="6426200" cy="846771"/>
          </a:xfrm>
        </p:spPr>
        <p:txBody>
          <a:bodyPr/>
          <a:lstStyle/>
          <a:p>
            <a:r>
              <a:rPr lang="ru-RU" b="1" dirty="0" err="1"/>
              <a:t>Пререквизиты</a:t>
            </a:r>
            <a:endParaRPr lang="ru-RU" b="1" dirty="0"/>
          </a:p>
        </p:txBody>
      </p:sp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3F7677B-B470-4A31-A550-15507B571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6739378"/>
              </p:ext>
            </p:extLst>
          </p:nvPr>
        </p:nvGraphicFramePr>
        <p:xfrm>
          <a:off x="117762" y="1735179"/>
          <a:ext cx="11824856" cy="5092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214">
                  <a:extLst>
                    <a:ext uri="{9D8B030D-6E8A-4147-A177-3AD203B41FA5}">
                      <a16:colId xmlns:a16="http://schemas.microsoft.com/office/drawing/2014/main" val="140505816"/>
                    </a:ext>
                  </a:extLst>
                </a:gridCol>
                <a:gridCol w="1756642">
                  <a:extLst>
                    <a:ext uri="{9D8B030D-6E8A-4147-A177-3AD203B41FA5}">
                      <a16:colId xmlns:a16="http://schemas.microsoft.com/office/drawing/2014/main" val="184062686"/>
                    </a:ext>
                  </a:extLst>
                </a:gridCol>
                <a:gridCol w="5800437">
                  <a:extLst>
                    <a:ext uri="{9D8B030D-6E8A-4147-A177-3AD203B41FA5}">
                      <a16:colId xmlns:a16="http://schemas.microsoft.com/office/drawing/2014/main" val="2029738437"/>
                    </a:ext>
                  </a:extLst>
                </a:gridCol>
                <a:gridCol w="1311563">
                  <a:extLst>
                    <a:ext uri="{9D8B030D-6E8A-4147-A177-3AD203B41FA5}">
                      <a16:colId xmlns:a16="http://schemas.microsoft.com/office/drawing/2014/main" val="4120389334"/>
                    </a:ext>
                  </a:extLst>
                </a:gridCol>
              </a:tblGrid>
              <a:tr h="442410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Дисциплина / практика (</a:t>
                      </a:r>
                      <a:r>
                        <a:rPr lang="ru-RU" sz="12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пререквизит</a:t>
                      </a:r>
                      <a:r>
                        <a:rPr lang="ru-RU" sz="12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  <a:endParaRPr lang="ru-RU" sz="12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Компетенция КРМ</a:t>
                      </a:r>
                      <a:endParaRPr lang="ru-RU" sz="12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Освоенные ранее индикаторы (входной уровень)</a:t>
                      </a:r>
                      <a:endParaRPr lang="ru-RU" sz="12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Уровень на входе</a:t>
                      </a:r>
                      <a:endParaRPr lang="ru-RU" sz="12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965392058"/>
                  </a:ext>
                </a:extLst>
              </a:tr>
              <a:tr h="353508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Основы программной инженерии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LC-3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LC-3.1. Представление об архитектуре и жизненном цикле систем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182672879"/>
                  </a:ext>
                </a:extLst>
              </a:tr>
              <a:tr h="534249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Технологическая практика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LC-5.1. Базовые инструменты промышленной разработки и сопровождения ПО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396466745"/>
                  </a:ext>
                </a:extLst>
              </a:tr>
              <a:tr h="353508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Введение в машинное обучение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LC-2.1. Базовые эксперименты с моделями МО, оценка качества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481767136"/>
                  </a:ext>
                </a:extLst>
              </a:tr>
              <a:tr h="373139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Основы систем искусственного интеллекта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LC-8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LC-8.1 (ML-1.1). Ориентация в основных направлениях и трендах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557812596"/>
                  </a:ext>
                </a:extLst>
              </a:tr>
              <a:tr h="373139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Искусственные нейронные сети и глубокое обучение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LC-2.1–LC-2.2. Проведение экспериментов и оценка моделей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Б/С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194545744"/>
                  </a:ext>
                </a:extLst>
              </a:tr>
              <a:tr h="373139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Автоматизированное машинное обучение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LC-2.1. Автоматизация экспериментов с моделями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176413021"/>
                  </a:ext>
                </a:extLst>
              </a:tr>
              <a:tr h="353508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Деловые коммуникации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SS-2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SS-2.1. Эффективная коммуникация в проектной команде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028390402"/>
                  </a:ext>
                </a:extLst>
              </a:tr>
              <a:tr h="373139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Введение в профессиональную деятельность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SS-1.1. Понимание роли специалиста и этических принципов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672059143"/>
                  </a:ext>
                </a:extLst>
              </a:tr>
              <a:tr h="353508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Тестирование ПО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LC-5.1. Оценка качества инструментов и практик разработки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440256693"/>
                  </a:ext>
                </a:extLst>
              </a:tr>
              <a:tr h="1170304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Системная инженерия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LC-1.1. Формализует бизнес-цели и вырабатывает под них стратегии внедрения ИИ</a:t>
                      </a:r>
                    </a:p>
                    <a:p>
                      <a:pPr marL="180000" indent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LC-1.2. Выбирает оптимальные технологии под конкретные требования проекта внедрения 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219687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290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AC7242-4034-42FE-8894-34822C885C95}"/>
              </a:ext>
            </a:extLst>
          </p:cNvPr>
          <p:cNvSpPr/>
          <p:nvPr/>
        </p:nvSpPr>
        <p:spPr>
          <a:xfrm>
            <a:off x="31173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A83A7D6D-9046-4AA9-BA32-3071418F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818" y="1056279"/>
            <a:ext cx="6426200" cy="846771"/>
          </a:xfrm>
        </p:spPr>
        <p:txBody>
          <a:bodyPr/>
          <a:lstStyle/>
          <a:p>
            <a:r>
              <a:rPr lang="ru-RU" b="1" dirty="0" err="1"/>
              <a:t>Постреквизиты</a:t>
            </a:r>
            <a:endParaRPr lang="ru-RU" b="1" dirty="0"/>
          </a:p>
        </p:txBody>
      </p:sp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3F7677B-B470-4A31-A550-15507B571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552996"/>
              </p:ext>
            </p:extLst>
          </p:nvPr>
        </p:nvGraphicFramePr>
        <p:xfrm>
          <a:off x="415635" y="2326436"/>
          <a:ext cx="11214101" cy="3546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525">
                  <a:extLst>
                    <a:ext uri="{9D8B030D-6E8A-4147-A177-3AD203B41FA5}">
                      <a16:colId xmlns:a16="http://schemas.microsoft.com/office/drawing/2014/main" val="140505816"/>
                    </a:ext>
                  </a:extLst>
                </a:gridCol>
                <a:gridCol w="1665911">
                  <a:extLst>
                    <a:ext uri="{9D8B030D-6E8A-4147-A177-3AD203B41FA5}">
                      <a16:colId xmlns:a16="http://schemas.microsoft.com/office/drawing/2014/main" val="184062686"/>
                    </a:ext>
                  </a:extLst>
                </a:gridCol>
                <a:gridCol w="5500844">
                  <a:extLst>
                    <a:ext uri="{9D8B030D-6E8A-4147-A177-3AD203B41FA5}">
                      <a16:colId xmlns:a16="http://schemas.microsoft.com/office/drawing/2014/main" val="2029738437"/>
                    </a:ext>
                  </a:extLst>
                </a:gridCol>
                <a:gridCol w="1243821">
                  <a:extLst>
                    <a:ext uri="{9D8B030D-6E8A-4147-A177-3AD203B41FA5}">
                      <a16:colId xmlns:a16="http://schemas.microsoft.com/office/drawing/2014/main" val="4120389334"/>
                    </a:ext>
                  </a:extLst>
                </a:gridCol>
              </a:tblGrid>
              <a:tr h="889093">
                <a:tc>
                  <a:txBody>
                    <a:bodyPr/>
                    <a:lstStyle/>
                    <a:p>
                      <a:pPr marL="1800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Дисциплина / практика</a:t>
                      </a:r>
                      <a:b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</a:b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(для которой данная дисциплина — </a:t>
                      </a:r>
                      <a:r>
                        <a:rPr lang="ru-RU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пререквизит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Компетенция КРМ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Индикаторы, формируемые в данной дисциплине как база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Выходной уровень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965392058"/>
                  </a:ext>
                </a:extLst>
              </a:tr>
              <a:tr h="59148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Производственная практика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LC-4.1–LC-4.3. Ведение проекта, координация команды, контроль реализации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3182672879"/>
                  </a:ext>
                </a:extLst>
              </a:tr>
              <a:tr h="636460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Преддипломная практика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LC-4.1–LC-4.3. Управление процессом жизненного цикла ИИ-продукта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1396466745"/>
                  </a:ext>
                </a:extLst>
              </a:tr>
              <a:tr h="658631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Выполнение и защита ВКР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LC-4, LC-7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LC-4.1; LC-7.1. Планирование и экономическое обоснование проектной части работы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481767136"/>
                  </a:ext>
                </a:extLst>
              </a:tr>
              <a:tr h="706873"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Рекомендательные системы и системы поддержки принятия решений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LC-1, LC-4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7000"/>
                        </a:lnSpc>
                        <a:spcAft>
                          <a:spcPts val="12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LC-1.1–LC-1.3; LC-4.1. Постановка задачи и ведение проекта на прикладном материале</a:t>
                      </a: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</a:t>
                      </a: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557812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896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AC7242-4034-42FE-8894-34822C885C95}"/>
              </a:ext>
            </a:extLst>
          </p:cNvPr>
          <p:cNvSpPr/>
          <p:nvPr/>
        </p:nvSpPr>
        <p:spPr>
          <a:xfrm>
            <a:off x="31173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A83A7D6D-9046-4AA9-BA32-3071418F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9272" y="1166051"/>
            <a:ext cx="6426200" cy="84677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Система оценки</a:t>
            </a:r>
            <a:br>
              <a:rPr lang="ru-RU" b="1" dirty="0"/>
            </a:br>
            <a:r>
              <a:rPr lang="ru-RU" b="1" dirty="0"/>
              <a:t>результатов обучения</a:t>
            </a:r>
          </a:p>
        </p:txBody>
      </p:sp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3F7677B-B470-4A31-A550-15507B571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0701294"/>
              </p:ext>
            </p:extLst>
          </p:nvPr>
        </p:nvGraphicFramePr>
        <p:xfrm>
          <a:off x="193963" y="2117048"/>
          <a:ext cx="11804073" cy="4740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5345">
                  <a:extLst>
                    <a:ext uri="{9D8B030D-6E8A-4147-A177-3AD203B41FA5}">
                      <a16:colId xmlns:a16="http://schemas.microsoft.com/office/drawing/2014/main" val="140505816"/>
                    </a:ext>
                  </a:extLst>
                </a:gridCol>
                <a:gridCol w="1366982">
                  <a:extLst>
                    <a:ext uri="{9D8B030D-6E8A-4147-A177-3AD203B41FA5}">
                      <a16:colId xmlns:a16="http://schemas.microsoft.com/office/drawing/2014/main" val="184062686"/>
                    </a:ext>
                  </a:extLst>
                </a:gridCol>
                <a:gridCol w="5375564">
                  <a:extLst>
                    <a:ext uri="{9D8B030D-6E8A-4147-A177-3AD203B41FA5}">
                      <a16:colId xmlns:a16="http://schemas.microsoft.com/office/drawing/2014/main" val="2029738437"/>
                    </a:ext>
                  </a:extLst>
                </a:gridCol>
                <a:gridCol w="1126836">
                  <a:extLst>
                    <a:ext uri="{9D8B030D-6E8A-4147-A177-3AD203B41FA5}">
                      <a16:colId xmlns:a16="http://schemas.microsoft.com/office/drawing/2014/main" val="4120389334"/>
                    </a:ext>
                  </a:extLst>
                </a:gridCol>
                <a:gridCol w="1459346">
                  <a:extLst>
                    <a:ext uri="{9D8B030D-6E8A-4147-A177-3AD203B41FA5}">
                      <a16:colId xmlns:a16="http://schemas.microsoft.com/office/drawing/2014/main" val="2565851605"/>
                    </a:ext>
                  </a:extLst>
                </a:gridCol>
              </a:tblGrid>
              <a:tr h="6010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Компетенции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Дескриптор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освоения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Форма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контроля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Вид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КИМ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5392058"/>
                  </a:ext>
                </a:extLst>
              </a:tr>
              <a:tr h="5914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 1. 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Проекты и среда управления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LC-1; SS-2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Определяет и формализует проблему предметной области, решение которой требует применения ИИ; формализует особенности проектов в сфере ИИ. Понимает общую цель команды, участвует в обсуждении задач планирования и реализации проекта.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Опрос / мини-эссе; практическое задание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2672879"/>
                  </a:ext>
                </a:extLst>
              </a:tr>
              <a:tr h="6364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2.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содержанием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Проводит анализ требований к системе ИИ, оценивает и разрабатывает технические требования на основе формализованной постановки задачи. Формализует бизнес-цель заказчика, выявляет заинтересованные стороны и требования; разрабатывает ТЗ на систему ИИ с учётом специфики предметной области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(устав проекта,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WBS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6466745"/>
                  </a:ext>
                </a:extLst>
              </a:tr>
              <a:tr h="65863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Модуль 3. </a:t>
                      </a: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Управление человеческими ресурсами проекта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LC-4; SS-2</a:t>
                      </a:r>
                      <a:endParaRPr lang="ru-RU" sz="16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Обеспечивает взаимодействие всех участников проекта. Осуществляет коммуникации между аналитиками данных, инженерами, разработчиками и руководителями подразделений для масштабирования ИИ-инициатив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Текущий</a:t>
                      </a:r>
                      <a:endParaRPr lang="ru-RU" sz="1600" kern="15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Практическое задание; лабораторная работа (матрица </a:t>
                      </a:r>
                      <a:r>
                        <a:rPr lang="en-US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RACI</a:t>
                      </a:r>
                      <a:r>
                        <a:rPr lang="ru-RU" sz="1600" kern="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1767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91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AC7242-4034-42FE-8894-34822C885C95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A83A7D6D-9046-4AA9-BA32-3071418F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6982" y="1200195"/>
            <a:ext cx="6426200" cy="84677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Система оценки</a:t>
            </a:r>
            <a:br>
              <a:rPr lang="ru-RU" b="1" dirty="0"/>
            </a:br>
            <a:r>
              <a:rPr lang="ru-RU" b="1" dirty="0"/>
              <a:t>результатов обучения</a:t>
            </a:r>
          </a:p>
        </p:txBody>
      </p:sp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3F7677B-B470-4A31-A550-15507B571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4323728"/>
              </p:ext>
            </p:extLst>
          </p:nvPr>
        </p:nvGraphicFramePr>
        <p:xfrm>
          <a:off x="225136" y="2285984"/>
          <a:ext cx="11804073" cy="4282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654">
                  <a:extLst>
                    <a:ext uri="{9D8B030D-6E8A-4147-A177-3AD203B41FA5}">
                      <a16:colId xmlns:a16="http://schemas.microsoft.com/office/drawing/2014/main" val="140505816"/>
                    </a:ext>
                  </a:extLst>
                </a:gridCol>
                <a:gridCol w="1394691">
                  <a:extLst>
                    <a:ext uri="{9D8B030D-6E8A-4147-A177-3AD203B41FA5}">
                      <a16:colId xmlns:a16="http://schemas.microsoft.com/office/drawing/2014/main" val="184062686"/>
                    </a:ext>
                  </a:extLst>
                </a:gridCol>
                <a:gridCol w="4802909">
                  <a:extLst>
                    <a:ext uri="{9D8B030D-6E8A-4147-A177-3AD203B41FA5}">
                      <a16:colId xmlns:a16="http://schemas.microsoft.com/office/drawing/2014/main" val="2029738437"/>
                    </a:ext>
                  </a:extLst>
                </a:gridCol>
                <a:gridCol w="1330037">
                  <a:extLst>
                    <a:ext uri="{9D8B030D-6E8A-4147-A177-3AD203B41FA5}">
                      <a16:colId xmlns:a16="http://schemas.microsoft.com/office/drawing/2014/main" val="4120389334"/>
                    </a:ext>
                  </a:extLst>
                </a:gridCol>
                <a:gridCol w="2179782">
                  <a:extLst>
                    <a:ext uri="{9D8B030D-6E8A-4147-A177-3AD203B41FA5}">
                      <a16:colId xmlns:a16="http://schemas.microsoft.com/office/drawing/2014/main" val="2565851605"/>
                    </a:ext>
                  </a:extLst>
                </a:gridCol>
              </a:tblGrid>
              <a:tr h="5641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Компетенции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Дескриптор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освоения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Форма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контроля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Вид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КИМ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5392058"/>
                  </a:ext>
                </a:extLst>
              </a:tr>
              <a:tr h="12435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4.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сроками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Осуществляет ведение проекта в области ИИ, планирование и контроль задач, оценку ресурсов. Подбирает методологию (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CRISP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DM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CRISP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ML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Q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)) и организует процесс разработки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(сетевой график, диаграмма </a:t>
                      </a:r>
                      <a:r>
                        <a:rPr lang="ru-RU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Ганта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2672879"/>
                  </a:ext>
                </a:extLst>
              </a:tr>
              <a:tr h="11822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5.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стоимостью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LC-7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Знает ключевые технико-экономические показатели внедрения ИИ. Строит расчётные модели для оценки технико-экономических показателей ИИ и применяет их для прогнозирования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(бюджет по методике освоенного объёма)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6466745"/>
                  </a:ext>
                </a:extLst>
              </a:tr>
              <a:tr h="6586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6.</a:t>
                      </a:r>
                      <a:r>
                        <a:rPr lang="ru-RU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качеством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проекта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Подбирает методологию разработки системы ИИ. Организует процесс контроля качества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-продукта, применяет инструменты </a:t>
                      </a:r>
                      <a:r>
                        <a:rPr lang="ru-RU" sz="16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приоритизации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дефектов и метрики качества </a:t>
                      </a:r>
                      <a:r>
                        <a:rPr lang="en-US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ML</a:t>
                      </a: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-моделей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Рубежный; текущий</a:t>
                      </a:r>
                      <a:endParaRPr lang="ru-RU" sz="16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Коллоквиум / практическое задание; лабораторная работа (план управления качеством)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1767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895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AC7242-4034-42FE-8894-34822C885C95}"/>
              </a:ext>
            </a:extLst>
          </p:cNvPr>
          <p:cNvSpPr/>
          <p:nvPr/>
        </p:nvSpPr>
        <p:spPr>
          <a:xfrm>
            <a:off x="0" y="1479665"/>
            <a:ext cx="12192000" cy="5378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A83A7D6D-9046-4AA9-BA32-3071418F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218" y="1231770"/>
            <a:ext cx="6426200" cy="84677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Система оценки</a:t>
            </a:r>
            <a:br>
              <a:rPr lang="ru-RU" b="1" dirty="0"/>
            </a:br>
            <a:r>
              <a:rPr lang="ru-RU" b="1" dirty="0"/>
              <a:t>результатов обучения</a:t>
            </a:r>
          </a:p>
        </p:txBody>
      </p:sp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3F7677B-B470-4A31-A550-15507B571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858688"/>
              </p:ext>
            </p:extLst>
          </p:nvPr>
        </p:nvGraphicFramePr>
        <p:xfrm>
          <a:off x="193963" y="2307292"/>
          <a:ext cx="11804073" cy="4486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6654">
                  <a:extLst>
                    <a:ext uri="{9D8B030D-6E8A-4147-A177-3AD203B41FA5}">
                      <a16:colId xmlns:a16="http://schemas.microsoft.com/office/drawing/2014/main" val="140505816"/>
                    </a:ext>
                  </a:extLst>
                </a:gridCol>
                <a:gridCol w="1394691">
                  <a:extLst>
                    <a:ext uri="{9D8B030D-6E8A-4147-A177-3AD203B41FA5}">
                      <a16:colId xmlns:a16="http://schemas.microsoft.com/office/drawing/2014/main" val="184062686"/>
                    </a:ext>
                  </a:extLst>
                </a:gridCol>
                <a:gridCol w="4802909">
                  <a:extLst>
                    <a:ext uri="{9D8B030D-6E8A-4147-A177-3AD203B41FA5}">
                      <a16:colId xmlns:a16="http://schemas.microsoft.com/office/drawing/2014/main" val="2029738437"/>
                    </a:ext>
                  </a:extLst>
                </a:gridCol>
                <a:gridCol w="1330037">
                  <a:extLst>
                    <a:ext uri="{9D8B030D-6E8A-4147-A177-3AD203B41FA5}">
                      <a16:colId xmlns:a16="http://schemas.microsoft.com/office/drawing/2014/main" val="4120389334"/>
                    </a:ext>
                  </a:extLst>
                </a:gridCol>
                <a:gridCol w="2179782">
                  <a:extLst>
                    <a:ext uri="{9D8B030D-6E8A-4147-A177-3AD203B41FA5}">
                      <a16:colId xmlns:a16="http://schemas.microsoft.com/office/drawing/2014/main" val="2565851605"/>
                    </a:ext>
                  </a:extLst>
                </a:gridCol>
              </a:tblGrid>
              <a:tr h="5641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Компетенции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Дескриптор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освоения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Форма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контроля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Вид</a:t>
                      </a:r>
                      <a:r>
                        <a:rPr lang="en-US" sz="16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КИМ</a:t>
                      </a:r>
                      <a:endParaRPr lang="ru-RU" sz="16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5392058"/>
                  </a:ext>
                </a:extLst>
              </a:tr>
              <a:tr h="11234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 7. </a:t>
                      </a:r>
                      <a:r>
                        <a:rPr lang="ru-RU" sz="15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Управление рисками и взаимодействием в проекте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LC-7</a:t>
                      </a:r>
                      <a:endParaRPr lang="ru-RU" sz="15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Знает ключевые риски внедрения ИИ. Строит расчётные оценки экономического ущерба и разрабатывает модели экономических эффектов внедрения 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5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задание; лабораторная работа (реестр рисков </a:t>
                      </a:r>
                      <a:r>
                        <a:rPr lang="en-US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TOP</a:t>
                      </a:r>
                      <a:r>
                        <a:rPr lang="ru-RU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-10)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2672879"/>
                  </a:ext>
                </a:extLst>
              </a:tr>
              <a:tr h="11083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 8. </a:t>
                      </a:r>
                      <a:r>
                        <a:rPr lang="ru-RU" sz="15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Методы и подходы к управлению проектами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endParaRPr lang="ru-RU" sz="15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Организует процесс разработки системы ИИ по гибкой методологии. Подбирает методологию управления ИИ-проектом и практически реализует её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Рубежный; текущий</a:t>
                      </a:r>
                      <a:endParaRPr lang="ru-RU" sz="15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Коллоквиум / решение практического кейса; лабораторная работа (спринт, ретроспектива)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6466745"/>
                  </a:ext>
                </a:extLst>
              </a:tr>
              <a:tr h="6586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Модуль 9. </a:t>
                      </a:r>
                      <a:r>
                        <a:rPr lang="ru-RU" sz="15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Программный инструментарий управления проектами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LC-4</a:t>
                      </a:r>
                      <a:endParaRPr lang="ru-RU" sz="15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Демонстрирует эффективное владение инструментами коммуникаций, проектного управления и контроля изменений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Текущий</a:t>
                      </a:r>
                      <a:endParaRPr lang="ru-RU" sz="15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Практическое задание</a:t>
                      </a:r>
                      <a:endParaRPr lang="ru-RU" sz="15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1767136"/>
                  </a:ext>
                </a:extLst>
              </a:tr>
              <a:tr h="6586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Промежуточная</a:t>
                      </a:r>
                      <a:r>
                        <a:rPr lang="en-US" sz="1500" b="1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500" b="1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аттестация</a:t>
                      </a:r>
                      <a:endParaRPr lang="ru-RU" sz="1500" b="1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LC-1, LC-4, LC-7, SS-2</a:t>
                      </a:r>
                      <a:endParaRPr lang="ru-RU" sz="15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5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Итоговая проверка сформированности компетенций дисциплины на уровне «средний»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5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Промежуточный</a:t>
                      </a:r>
                      <a:endParaRPr lang="ru-RU" sz="1500" kern="15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Билеты</a:t>
                      </a:r>
                      <a:r>
                        <a:rPr lang="en-US" sz="15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+ </a:t>
                      </a:r>
                      <a:r>
                        <a:rPr lang="en-US" sz="15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практико-ориентированное</a:t>
                      </a:r>
                      <a:r>
                        <a:rPr lang="en-US" sz="1500" kern="15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500" kern="150" dirty="0" err="1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задание</a:t>
                      </a:r>
                      <a:endParaRPr lang="ru-RU" sz="1500" kern="15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376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632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642B5-620B-81D5-D861-84714B0B2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0932" y="1346199"/>
            <a:ext cx="8321675" cy="1371602"/>
          </a:xfrm>
        </p:spPr>
        <p:txBody>
          <a:bodyPr>
            <a:noAutofit/>
          </a:bodyPr>
          <a:lstStyle/>
          <a:p>
            <a:pPr algn="r"/>
            <a:r>
              <a:rPr lang="ru-RU" sz="4800" b="1" dirty="0">
                <a:solidFill>
                  <a:srgbClr val="0147B4"/>
                </a:solidFill>
                <a:latin typeface="Bahnschrift Condensed" panose="020B0502040204020203" pitchFamily="34" charset="0"/>
              </a:rPr>
              <a:t>РАБОЧИЙ ПРОЕКТ РПД</a:t>
            </a:r>
            <a:br>
              <a:rPr lang="ru-RU" sz="4800" b="1" dirty="0">
                <a:solidFill>
                  <a:srgbClr val="0147B4"/>
                </a:solidFill>
                <a:latin typeface="Bahnschrift Condensed" panose="020B0502040204020203" pitchFamily="34" charset="0"/>
              </a:rPr>
            </a:br>
            <a:r>
              <a:rPr lang="ru-RU" sz="4800" b="1" dirty="0">
                <a:solidFill>
                  <a:srgbClr val="0147B4"/>
                </a:solidFill>
                <a:latin typeface="Bahnschrift Condensed" panose="020B0502040204020203" pitchFamily="34" charset="0"/>
              </a:rPr>
              <a:t>«Управление проектами в сфере ИИ»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2D8914-E7F5-F168-0E1D-1DF189F17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3007" y="2948707"/>
            <a:ext cx="6959600" cy="1272857"/>
          </a:xfrm>
        </p:spPr>
        <p:txBody>
          <a:bodyPr/>
          <a:lstStyle/>
          <a:p>
            <a:pPr algn="r"/>
            <a:r>
              <a:rPr lang="ru-RU" dirty="0">
                <a:solidFill>
                  <a:srgbClr val="0147B4"/>
                </a:solidFill>
                <a:latin typeface="Arial Narrow" panose="020B0606020202030204" pitchFamily="34" charset="0"/>
              </a:rPr>
              <a:t>ДПО "Преподавание современного ИИ на топ-уровне: системное видение"</a:t>
            </a:r>
          </a:p>
          <a:p>
            <a:pPr algn="r"/>
            <a:r>
              <a:rPr lang="ru-RU" dirty="0">
                <a:solidFill>
                  <a:srgbClr val="0147B4"/>
                </a:solidFill>
                <a:latin typeface="Arial Narrow" panose="020B0606020202030204" pitchFamily="34" charset="0"/>
              </a:rPr>
              <a:t>Группа №40 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CB06384-6F28-4B73-BC2B-BC5774820A29}"/>
              </a:ext>
            </a:extLst>
          </p:cNvPr>
          <p:cNvSpPr txBox="1">
            <a:spLocks/>
          </p:cNvSpPr>
          <p:nvPr/>
        </p:nvSpPr>
        <p:spPr>
          <a:xfrm>
            <a:off x="3853007" y="4140199"/>
            <a:ext cx="6959600" cy="1891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200" dirty="0" err="1">
                <a:solidFill>
                  <a:srgbClr val="0147B4"/>
                </a:solidFill>
                <a:latin typeface="Arial Narrow" panose="020B0606020202030204" pitchFamily="34" charset="0"/>
              </a:rPr>
              <a:t>Крошилина</a:t>
            </a:r>
            <a:r>
              <a:rPr lang="ru-RU" sz="1200" dirty="0">
                <a:solidFill>
                  <a:srgbClr val="0147B4"/>
                </a:solidFill>
                <a:latin typeface="Arial Narrow" panose="020B0606020202030204" pitchFamily="34" charset="0"/>
              </a:rPr>
              <a:t> Светлана Владимировна</a:t>
            </a:r>
          </a:p>
          <a:p>
            <a:pPr algn="r"/>
            <a:r>
              <a:rPr lang="ru-RU" sz="1200" dirty="0">
                <a:solidFill>
                  <a:srgbClr val="0147B4"/>
                </a:solidFill>
                <a:latin typeface="Arial Narrow" panose="020B0606020202030204" pitchFamily="34" charset="0"/>
              </a:rPr>
              <a:t>Исупова Наталья Ивановна</a:t>
            </a:r>
          </a:p>
          <a:p>
            <a:pPr algn="r"/>
            <a:r>
              <a:rPr lang="ru-RU" sz="1200" dirty="0" err="1">
                <a:solidFill>
                  <a:srgbClr val="0147B4"/>
                </a:solidFill>
                <a:latin typeface="Arial Narrow" panose="020B0606020202030204" pitchFamily="34" charset="0"/>
              </a:rPr>
              <a:t>Душкина</a:t>
            </a:r>
            <a:r>
              <a:rPr lang="ru-RU" sz="1200" dirty="0">
                <a:solidFill>
                  <a:srgbClr val="0147B4"/>
                </a:solidFill>
                <a:latin typeface="Arial Narrow" panose="020B0606020202030204" pitchFamily="34" charset="0"/>
              </a:rPr>
              <a:t> Елена Николаевна</a:t>
            </a:r>
          </a:p>
          <a:p>
            <a:pPr algn="r"/>
            <a:r>
              <a:rPr lang="ru-RU" sz="1200" dirty="0" err="1">
                <a:solidFill>
                  <a:srgbClr val="0147B4"/>
                </a:solidFill>
                <a:latin typeface="Arial Narrow" panose="020B0606020202030204" pitchFamily="34" charset="0"/>
              </a:rPr>
              <a:t>Борзин</a:t>
            </a:r>
            <a:r>
              <a:rPr lang="ru-RU" sz="1200" dirty="0">
                <a:solidFill>
                  <a:srgbClr val="0147B4"/>
                </a:solidFill>
                <a:latin typeface="Arial Narrow" panose="020B0606020202030204" pitchFamily="34" charset="0"/>
              </a:rPr>
              <a:t> Роман Юрьевич</a:t>
            </a:r>
          </a:p>
          <a:p>
            <a:pPr algn="r"/>
            <a:r>
              <a:rPr lang="ru-RU" sz="1200" dirty="0">
                <a:solidFill>
                  <a:srgbClr val="0147B4"/>
                </a:solidFill>
                <a:latin typeface="Arial Narrow" panose="020B0606020202030204" pitchFamily="34" charset="0"/>
              </a:rPr>
              <a:t>Кошелев Антон Александрович</a:t>
            </a:r>
          </a:p>
        </p:txBody>
      </p:sp>
    </p:spTree>
    <p:extLst>
      <p:ext uri="{BB962C8B-B14F-4D97-AF65-F5344CB8AC3E}">
        <p14:creationId xmlns:p14="http://schemas.microsoft.com/office/powerpoint/2010/main" val="19953486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1" id="{0E23F2B3-255E-4B65-A562-17B9008657F4}" vid="{75DBB318-8D19-41D4-AEDD-612DF24931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Викторина</Template>
  <TotalTime>100</TotalTime>
  <Words>2034</Words>
  <Application>Microsoft Office PowerPoint</Application>
  <PresentationFormat>Широкоэкранный</PresentationFormat>
  <Paragraphs>335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Arial Narrow</vt:lpstr>
      <vt:lpstr>Calibri</vt:lpstr>
      <vt:lpstr>MS Mincho</vt:lpstr>
      <vt:lpstr>Bahnschrift Condensed</vt:lpstr>
      <vt:lpstr>Times New Roman</vt:lpstr>
      <vt:lpstr>Arial</vt:lpstr>
      <vt:lpstr>Calibri Light</vt:lpstr>
      <vt:lpstr>Тема Office</vt:lpstr>
      <vt:lpstr>РАБОЧИЙ ПРОЕКТ РПД «Управление проектами в сфере ИИ»</vt:lpstr>
      <vt:lpstr>Цель дисциплины</vt:lpstr>
      <vt:lpstr>Задачи дисциплины</vt:lpstr>
      <vt:lpstr>Профильные роли КРМ</vt:lpstr>
      <vt:lpstr>Компетенции и индикаторы по КРМ</vt:lpstr>
      <vt:lpstr>Компетенции и индикаторы по КРМ</vt:lpstr>
      <vt:lpstr>Место в учебном плане</vt:lpstr>
      <vt:lpstr>Структура и содержание РПД</vt:lpstr>
      <vt:lpstr>Структура и содержание РПД</vt:lpstr>
      <vt:lpstr>Структура и содержание РПД</vt:lpstr>
      <vt:lpstr>Структура и содержание РПД</vt:lpstr>
      <vt:lpstr>Пререквизиты</vt:lpstr>
      <vt:lpstr>Постреквизиты</vt:lpstr>
      <vt:lpstr>Система оценки результатов обучения</vt:lpstr>
      <vt:lpstr>Система оценки результатов обучения</vt:lpstr>
      <vt:lpstr>Система оценки результатов обучения</vt:lpstr>
      <vt:lpstr>РАБОЧИЙ ПРОЕКТ РПД «Управление проектами в сфере ИИ»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Харунжева</dc:creator>
  <cp:lastModifiedBy>Исупова Наталья Ивановна</cp:lastModifiedBy>
  <cp:revision>28</cp:revision>
  <dcterms:created xsi:type="dcterms:W3CDTF">2026-05-09T15:42:28Z</dcterms:created>
  <dcterms:modified xsi:type="dcterms:W3CDTF">2026-07-13T20:03:03Z</dcterms:modified>
</cp:coreProperties>
</file>