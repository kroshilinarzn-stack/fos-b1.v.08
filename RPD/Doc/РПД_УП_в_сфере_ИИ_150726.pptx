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7" r:id="rId3"/>
    <p:sldId id="257" r:id="rId4"/>
    <p:sldId id="258" r:id="rId5"/>
    <p:sldId id="263" r:id="rId6"/>
    <p:sldId id="264" r:id="rId7"/>
    <p:sldId id="267" r:id="rId8"/>
    <p:sldId id="278" r:id="rId9"/>
    <p:sldId id="280" r:id="rId10"/>
    <p:sldId id="279" r:id="rId11"/>
    <p:sldId id="281" r:id="rId12"/>
    <p:sldId id="282" r:id="rId13"/>
    <p:sldId id="283" r:id="rId14"/>
    <p:sldId id="284" r:id="rId15"/>
    <p:sldId id="285" r:id="rId16"/>
    <p:sldId id="286" r:id="rId17"/>
    <p:sldId id="268" r:id="rId18"/>
    <p:sldId id="266" r:id="rId19"/>
    <p:sldId id="272" r:id="rId20"/>
    <p:sldId id="273" r:id="rId21"/>
    <p:sldId id="276" r:id="rId22"/>
    <p:sldId id="277" r:id="rId23"/>
    <p:sldId id="288" r:id="rId24"/>
    <p:sldId id="262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0141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32"/>
  </p:normalViewPr>
  <p:slideViewPr>
    <p:cSldViewPr snapToGrid="0">
      <p:cViewPr varScale="1">
        <p:scale>
          <a:sx n="71" d="100"/>
          <a:sy n="71" d="100"/>
        </p:scale>
        <p:origin x="3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14D75-7094-767C-F696-163DA0631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olos Text" panose="020B0503020202020204" pitchFamily="34" charset="0"/>
                <a:ea typeface="Golos Text" panose="020B0503020202020204" pitchFamily="34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704547-04D0-4D38-DB77-B43D52ABB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824416-E8F9-61EF-E6D1-BC2B4BAD1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5AA014-56BF-40CB-39F2-DC33F3AFA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D8BC4B-DA57-1DC8-6D9D-53969507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346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11257-CAF6-47B5-D2A5-6F48CB2FD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04584-D55D-5002-3CFB-92ECEBCB8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6E326A-0D2A-7537-95A3-F838AF0C3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FF1308-8060-D862-3F8E-C9209AB0B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2E7770-AC08-478A-2DFC-52CA9BC09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521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B72F2-D5B8-B308-E7BA-AA2D2C0E3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F9E6FA-8BED-62C4-EA10-DFDD2C17C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879B11-A705-E38C-760B-49584E60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2B70AE-75DF-8572-5095-F5DCD3D72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8ACFDE-55D1-781E-AC17-12F8511BF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65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C6F225-3DC8-CCAA-3314-17B0B9811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960A77-1953-B756-F038-C2AD0481DE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C4E49E-93B8-3A24-2205-E54E59C365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88382C-B13D-FC98-5410-E562E82F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7C28D2-B037-A94E-1A85-76995C9FB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7B33AD-36F7-1833-97AA-C005F7274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0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3EFB5-579F-BE0B-166C-50426ED7F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F83B45-78DE-0567-0995-1A1C751CA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3D1D42A-C580-082A-A23E-0DD0CB0D4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7575B3-47F7-7043-1A19-2CADAAA5A2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0853BBA-EB99-E6BB-45E2-225CC5E898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14AD746-157B-488B-A4A4-B12DD9458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2FFA9D4-4769-94B0-4630-BB70AD74F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A310FFB-2D2C-0B90-4ED6-F54BE2F6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9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3671BE-F29D-7143-B2C0-E41BFD68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9B13310-D4EB-4448-E040-D406C2B3E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922AFDA-E23B-F6DC-0074-86E450354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043832A-200E-F2C9-2D80-B185CF13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637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98E6E3-17C8-654A-2ED8-A2DBD9471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E972E5A-A91E-F858-AAC8-6831E0DE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3696D1-D4AF-3353-A158-31EF3C3C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388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6FD9AD-84DC-EAF1-4A37-28B053D5D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92A09D-B4BE-6AD7-26D0-490F3B093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42F5F4-3B1B-A795-36FE-C6B5DBBBB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7D14E4-61DE-FBE9-79AC-AF0981CCC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38B01F-825D-1209-3206-3ED34A23D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E1DCBD-DCDB-9BE6-A14D-41FA544B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497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5EC7E9-28C4-918A-5FBE-2F6FA8566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8A22047-5CE4-09F7-7296-126A89887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8CFEB5-6122-7E07-B156-6DEC0F798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136853-2C93-9518-7229-5FAF7CBA1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2FCEA4-DC7F-6683-C79D-DCB54162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55E2CF-EAC4-6261-EAF3-7A33BA81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696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986E0-902E-3707-6F09-5208A5A1A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8853C4-83F9-00EB-13F2-004171E0C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02B9AD-F7CC-DC3E-D98C-E2CBB6A6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35AED8-859D-C7BA-D8B4-3C052B253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D5590-FA44-FA25-32A7-187D79A3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225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0A6162F-0CEA-89D5-C5BC-AFAF0D665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520F03-9C3B-1511-C6F4-0174F6678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DA9F2B-975E-9F5A-EB9C-1CBFBA4F6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6239FE-BEE0-7F3E-DDFD-331E63DB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2CFCA3-4959-96FA-D1A1-32AE64E04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719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B8F61-F8FD-2E11-52B5-535412FA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7468CD-D4E7-208A-1469-156E1DA05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493BCF-6C7A-9183-FCD5-EF960E897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317AE4-1A8E-3EF8-C946-B3600AF0F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1697FD-5E73-4CFC-DCA4-B7A933533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390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Golos Text DemiBold" panose="020B0503020202020204" pitchFamily="34" charset="0"/>
          <a:ea typeface="Golos Text DemiBold" panose="020B0503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A3A7DE-9454-3205-A880-5CE67D6E8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5430"/>
            <a:ext cx="848531" cy="1935538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16E39A8-88E6-3DA1-B9A7-9D4886DCD160}"/>
              </a:ext>
            </a:extLst>
          </p:cNvPr>
          <p:cNvSpPr/>
          <p:nvPr/>
        </p:nvSpPr>
        <p:spPr>
          <a:xfrm>
            <a:off x="0" y="3923818"/>
            <a:ext cx="12191999" cy="3035401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14D7EF9-463E-3F60-540D-9EF951770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327" y="1362850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FC655D-C2BD-9061-29D1-33ABB82E3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953" y="4052621"/>
            <a:ext cx="9144000" cy="1304678"/>
          </a:xfrm>
        </p:spPr>
        <p:txBody>
          <a:bodyPr>
            <a:normAutofit fontScale="90000"/>
          </a:bodyPr>
          <a:lstStyle/>
          <a:p>
            <a:pPr algn="l"/>
            <a:r>
              <a:rPr lang="ru-RU" sz="4800" dirty="0">
                <a:solidFill>
                  <a:schemeClr val="bg1"/>
                </a:solidFill>
              </a:rPr>
              <a:t>Рабочий проект РПД</a:t>
            </a:r>
            <a:br>
              <a:rPr lang="ru-RU" sz="4800" dirty="0">
                <a:solidFill>
                  <a:schemeClr val="bg1"/>
                </a:solidFill>
              </a:rPr>
            </a:br>
            <a:r>
              <a:rPr lang="ru-RU" sz="4800" dirty="0">
                <a:solidFill>
                  <a:schemeClr val="bg1"/>
                </a:solidFill>
              </a:rPr>
              <a:t>«Управление проектами в сфере ИИ»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284915-241E-8EE1-802E-3993741DF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443" y="5305753"/>
            <a:ext cx="9144000" cy="1469985"/>
          </a:xfrm>
        </p:spPr>
        <p:txBody>
          <a:bodyPr>
            <a:normAutofit fontScale="70000" lnSpcReduction="2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dirty="0" err="1">
                <a:solidFill>
                  <a:schemeClr val="bg1"/>
                </a:solidFill>
              </a:rPr>
              <a:t>Борзин</a:t>
            </a:r>
            <a:r>
              <a:rPr lang="ru-RU" dirty="0">
                <a:solidFill>
                  <a:schemeClr val="bg1"/>
                </a:solidFill>
              </a:rPr>
              <a:t> Роман Юрьевич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dirty="0" err="1">
                <a:solidFill>
                  <a:schemeClr val="bg1"/>
                </a:solidFill>
              </a:rPr>
              <a:t>Душкина</a:t>
            </a:r>
            <a:r>
              <a:rPr lang="ru-RU" dirty="0">
                <a:solidFill>
                  <a:schemeClr val="bg1"/>
                </a:solidFill>
              </a:rPr>
              <a:t> Елена Николаевна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dirty="0">
                <a:solidFill>
                  <a:schemeClr val="bg1"/>
                </a:solidFill>
              </a:rPr>
              <a:t>Исупова Наталья Ивановна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dirty="0" err="1">
                <a:solidFill>
                  <a:schemeClr val="bg1"/>
                </a:solidFill>
              </a:rPr>
              <a:t>Крошилина</a:t>
            </a:r>
            <a:r>
              <a:rPr lang="ru-RU" dirty="0">
                <a:solidFill>
                  <a:schemeClr val="bg1"/>
                </a:solidFill>
              </a:rPr>
              <a:t> Светлана Владимировна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dirty="0">
                <a:solidFill>
                  <a:schemeClr val="bg1"/>
                </a:solidFill>
              </a:rPr>
              <a:t>Кошелев Антон Александрович</a:t>
            </a: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455776-F093-4AF3-E008-4E649B75E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43" y="386289"/>
            <a:ext cx="5322298" cy="3298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F84394D-C7A5-E8B6-4037-C5DF07756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3323" y="391785"/>
            <a:ext cx="1692234" cy="329894"/>
          </a:xfrm>
          <a:prstGeom prst="rect">
            <a:avLst/>
          </a:prstGeom>
        </p:spPr>
      </p:pic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D2CF0753-6B81-2CC5-533F-5F048D407D72}"/>
              </a:ext>
            </a:extLst>
          </p:cNvPr>
          <p:cNvSpPr txBox="1">
            <a:spLocks/>
          </p:cNvSpPr>
          <p:nvPr/>
        </p:nvSpPr>
        <p:spPr>
          <a:xfrm>
            <a:off x="676443" y="3010968"/>
            <a:ext cx="9144000" cy="908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dirty="0">
                <a:solidFill>
                  <a:srgbClr val="014189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</a:t>
            </a:r>
            <a:br>
              <a:rPr lang="ru-RU" b="1" dirty="0">
                <a:solidFill>
                  <a:srgbClr val="014189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</a:br>
            <a:r>
              <a:rPr lang="ru-RU" b="1" dirty="0">
                <a:solidFill>
                  <a:srgbClr val="014189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на топ-уровне: системное видение</a:t>
            </a:r>
            <a:endParaRPr lang="ru-RU" b="1" dirty="0">
              <a:solidFill>
                <a:srgbClr val="014189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749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DB7BBF-72B7-AF68-4191-A926AAE3D3C2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64E0A62-9509-94F3-8748-6C1FF7DC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0E483-EE1D-D3E9-579F-F08BABC2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874" y="641601"/>
            <a:ext cx="11022108" cy="878761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Специфика управления проектами в сфере ИИ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3D0B2A8C-4966-E62C-16D2-22E73CF8EC6E}"/>
              </a:ext>
            </a:extLst>
          </p:cNvPr>
          <p:cNvSpPr/>
          <p:nvPr/>
        </p:nvSpPr>
        <p:spPr>
          <a:xfrm>
            <a:off x="412488" y="1701478"/>
            <a:ext cx="11208494" cy="4860045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4A5DB7-4F55-4262-984A-592D38384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18" y="1841123"/>
            <a:ext cx="10858982" cy="45865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40515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39"/>
            <a:ext cx="10515600" cy="1325563"/>
          </a:xfrm>
        </p:spPr>
        <p:txBody>
          <a:bodyPr/>
          <a:lstStyle/>
          <a:p>
            <a:r>
              <a:rPr lang="ru-RU" dirty="0"/>
              <a:t>Цель дисциплины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/>
              <a:t>«Управление проектами в сфере ИИ»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1CF8BE-7C18-E6DA-2E1B-B7B81CCA4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701734"/>
            <a:ext cx="10515600" cy="3723130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С</a:t>
            </a:r>
            <a:r>
              <a:rPr lang="en-US" dirty="0" err="1"/>
              <a:t>формировать</a:t>
            </a:r>
            <a:r>
              <a:rPr lang="en-US" dirty="0"/>
              <a:t> у </a:t>
            </a:r>
            <a:r>
              <a:rPr lang="en-US" dirty="0" err="1"/>
              <a:t>студентов</a:t>
            </a:r>
            <a:r>
              <a:rPr lang="en-US" dirty="0"/>
              <a:t> </a:t>
            </a:r>
            <a:r>
              <a:rPr lang="en-US" dirty="0" err="1"/>
              <a:t>компетенции</a:t>
            </a:r>
            <a:r>
              <a:rPr lang="en-US" dirty="0"/>
              <a:t> в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жизненным</a:t>
            </a:r>
            <a:r>
              <a:rPr lang="en-US" dirty="0"/>
              <a:t> </a:t>
            </a:r>
            <a:r>
              <a:rPr lang="en-US" dirty="0" err="1"/>
              <a:t>циклом</a:t>
            </a:r>
            <a:r>
              <a:rPr lang="en-US" dirty="0"/>
              <a:t> </a:t>
            </a:r>
            <a:r>
              <a:rPr lang="en-US" dirty="0" err="1"/>
              <a:t>проектов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разработке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искусственного</a:t>
            </a:r>
            <a:r>
              <a:rPr lang="en-US" dirty="0"/>
              <a:t> </a:t>
            </a:r>
            <a:r>
              <a:rPr lang="en-US" dirty="0" err="1"/>
              <a:t>интеллекта</a:t>
            </a:r>
            <a:r>
              <a:rPr lang="en-US" dirty="0"/>
              <a:t>, </a:t>
            </a:r>
            <a:r>
              <a:rPr lang="en-US" dirty="0" err="1"/>
              <a:t>позволяющие</a:t>
            </a:r>
            <a:r>
              <a:rPr lang="en-US" dirty="0"/>
              <a:t> </a:t>
            </a:r>
            <a:r>
              <a:rPr lang="en-US" dirty="0" err="1"/>
              <a:t>эффективно</a:t>
            </a:r>
            <a:r>
              <a:rPr lang="en-US" dirty="0"/>
              <a:t> </a:t>
            </a:r>
            <a:r>
              <a:rPr lang="en-US" dirty="0" err="1"/>
              <a:t>запускать</a:t>
            </a:r>
            <a:r>
              <a:rPr lang="en-US" dirty="0"/>
              <a:t>, </a:t>
            </a:r>
            <a:r>
              <a:rPr lang="en-US" dirty="0" err="1"/>
              <a:t>планировать</a:t>
            </a:r>
            <a:r>
              <a:rPr lang="en-US" dirty="0"/>
              <a:t>, </a:t>
            </a:r>
            <a:r>
              <a:rPr lang="en-US" dirty="0" err="1"/>
              <a:t>сопровождать</a:t>
            </a:r>
            <a:r>
              <a:rPr lang="en-US" dirty="0"/>
              <a:t> и </a:t>
            </a:r>
            <a:r>
              <a:rPr lang="en-US" dirty="0" err="1"/>
              <a:t>контролировать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ИИ-</a:t>
            </a:r>
            <a:r>
              <a:rPr lang="en-US" dirty="0" err="1"/>
              <a:t>проектов</a:t>
            </a:r>
            <a:r>
              <a:rPr lang="en-US" dirty="0"/>
              <a:t>, </a:t>
            </a:r>
            <a:r>
              <a:rPr lang="en-US" dirty="0" err="1"/>
              <a:t>формировать</a:t>
            </a:r>
            <a:r>
              <a:rPr lang="en-US" dirty="0"/>
              <a:t> и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работой</a:t>
            </a:r>
            <a:r>
              <a:rPr lang="en-US" dirty="0"/>
              <a:t> </a:t>
            </a:r>
            <a:r>
              <a:rPr lang="en-US" dirty="0" err="1"/>
              <a:t>проектной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ru-RU" dirty="0"/>
              <a:t>, а также применять современные ИИ-инструменты для повышения эффективности управленческих процессов и оптимизации проектной деятельности.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752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DB7BBF-72B7-AF68-4191-A926AAE3D3C2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64E0A62-9509-94F3-8748-6C1FF7DC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0E483-EE1D-D3E9-579F-F08BABC2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41601"/>
            <a:ext cx="10400142" cy="878761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Задачи дисциплины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«Управление проектами в сфере ИИ»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3D0B2A8C-4966-E62C-16D2-22E73CF8EC6E}"/>
              </a:ext>
            </a:extLst>
          </p:cNvPr>
          <p:cNvSpPr/>
          <p:nvPr/>
        </p:nvSpPr>
        <p:spPr>
          <a:xfrm>
            <a:off x="412488" y="1701478"/>
            <a:ext cx="11208494" cy="4860045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9AADBFA8-E093-0533-CD21-19F4ECA7B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63710"/>
            <a:ext cx="10400141" cy="4113253"/>
          </a:xfrm>
        </p:spPr>
        <p:txBody>
          <a:bodyPr>
            <a:normAutofit fontScale="70000" lnSpcReduction="20000"/>
          </a:bodyPr>
          <a:lstStyle/>
          <a:p>
            <a:r>
              <a:rPr lang="ru-RU" sz="2900" dirty="0"/>
              <a:t>освоить ключевые принципы и методы оптимального выбора и применения  методологий управления проектами разработки программного обеспечения и систем ИИ, включая классические и гибкие подходы, а также стандарты управления проектами, применительно к специфике ИИ-разработки;</a:t>
            </a:r>
          </a:p>
          <a:p>
            <a:r>
              <a:rPr lang="ru-RU" sz="2900" dirty="0"/>
              <a:t>сформировать практические навыки применения инструментов проектного планирования (WBS, диаграмма </a:t>
            </a:r>
            <a:r>
              <a:rPr lang="ru-RU" sz="2900" dirty="0" err="1"/>
              <a:t>Ганта</a:t>
            </a:r>
            <a:r>
              <a:rPr lang="ru-RU" sz="2900" dirty="0"/>
              <a:t>, </a:t>
            </a:r>
            <a:r>
              <a:rPr lang="ru-RU" sz="2900" dirty="0" err="1"/>
              <a:t>канбан</a:t>
            </a:r>
            <a:r>
              <a:rPr lang="ru-RU" sz="2900" dirty="0"/>
              <a:t>-доски, RACI) и управления требованиями для организации работы проектной команды;</a:t>
            </a:r>
          </a:p>
          <a:p>
            <a:r>
              <a:rPr lang="ru-RU" sz="2900" dirty="0"/>
              <a:t>научить обосновывать технико-экономическую целесообразность проектных решений, оценивать трудоёмкость, сроки и стоимость проектных задач с учётом исследовательской составляющей и итеративности этапов, связанных с созданием компонентов ИИ;</a:t>
            </a:r>
          </a:p>
          <a:p>
            <a:r>
              <a:rPr lang="ru-RU" sz="2900" dirty="0"/>
              <a:t>развить умение идентифицировать и управлять рисками ИТ- и ИИ-проектов, в том числе связанными, с неопределённостью требований и технической реализацией алгоритмов машинного обучения, а также обусловленными информационной безопасностью;</a:t>
            </a:r>
          </a:p>
          <a:p>
            <a:r>
              <a:rPr lang="ru-RU" sz="2900" dirty="0"/>
              <a:t>сформировать навыки эффективного формирования и управления работой проектной команды с учётом жизненного цикла проекта, зон ответственности и принципов коммуникации между разработчиками, аналитиками данных и заказчиком.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804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39"/>
            <a:ext cx="10515600" cy="1325563"/>
          </a:xfrm>
        </p:spPr>
        <p:txBody>
          <a:bodyPr/>
          <a:lstStyle/>
          <a:p>
            <a:r>
              <a:rPr lang="ru-RU" dirty="0"/>
              <a:t>Профильные роли КРМ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38958993-B6C5-44FB-964E-5B2F56CD00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0211486"/>
              </p:ext>
            </p:extLst>
          </p:nvPr>
        </p:nvGraphicFramePr>
        <p:xfrm>
          <a:off x="838200" y="2454275"/>
          <a:ext cx="10515600" cy="34974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674022224"/>
                    </a:ext>
                  </a:extLst>
                </a:gridCol>
                <a:gridCol w="2125133">
                  <a:extLst>
                    <a:ext uri="{9D8B030D-6E8A-4147-A177-3AD203B41FA5}">
                      <a16:colId xmlns:a16="http://schemas.microsoft.com/office/drawing/2014/main" val="4186028932"/>
                    </a:ext>
                  </a:extLst>
                </a:gridCol>
                <a:gridCol w="4885267">
                  <a:extLst>
                    <a:ext uri="{9D8B030D-6E8A-4147-A177-3AD203B41FA5}">
                      <a16:colId xmlns:a16="http://schemas.microsoft.com/office/drawing/2014/main" val="2339980908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Роль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Статус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Функция в дисциплине и проекте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59048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 PM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(Менеджер проектов ИИ)</a:t>
                      </a:r>
                      <a:endParaRPr lang="ru-RU" sz="18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основная</a:t>
                      </a:r>
                      <a:endParaRPr lang="ru-RU" sz="18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процессами создания ИИ-решений, координация команды разработки, планирование ресурсов, контроль сроков и оценка эффективности проекта</a:t>
                      </a:r>
                      <a:endParaRPr lang="ru-RU" sz="18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3596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 CDO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(Руководитель цифровой трансформации)</a:t>
                      </a:r>
                      <a:endParaRPr lang="ru-RU" sz="18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поддерживающая</a:t>
                      </a:r>
                      <a:endParaRPr lang="ru-RU" sz="18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проектирование новых путей формирования ценности в организации посредством применения ИИ, стратегическое планирование, управление изменениями и формирование портфеля ИИ-проектов</a:t>
                      </a:r>
                      <a:endParaRPr lang="ru-RU" sz="18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2068364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207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42" y="727880"/>
            <a:ext cx="10515600" cy="906169"/>
          </a:xfrm>
        </p:spPr>
        <p:txBody>
          <a:bodyPr/>
          <a:lstStyle/>
          <a:p>
            <a:r>
              <a:rPr lang="ru-RU" dirty="0"/>
              <a:t>Компетенции и индикаторы по КРМ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479B7C46-D1EB-4968-A04F-45FC3730D5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6100377"/>
              </p:ext>
            </p:extLst>
          </p:nvPr>
        </p:nvGraphicFramePr>
        <p:xfrm>
          <a:off x="722741" y="1603430"/>
          <a:ext cx="11096724" cy="5071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908">
                  <a:extLst>
                    <a:ext uri="{9D8B030D-6E8A-4147-A177-3AD203B41FA5}">
                      <a16:colId xmlns:a16="http://schemas.microsoft.com/office/drawing/2014/main" val="2662292454"/>
                    </a:ext>
                  </a:extLst>
                </a:gridCol>
                <a:gridCol w="3698908">
                  <a:extLst>
                    <a:ext uri="{9D8B030D-6E8A-4147-A177-3AD203B41FA5}">
                      <a16:colId xmlns:a16="http://schemas.microsoft.com/office/drawing/2014/main" val="3606448271"/>
                    </a:ext>
                  </a:extLst>
                </a:gridCol>
                <a:gridCol w="3698908">
                  <a:extLst>
                    <a:ext uri="{9D8B030D-6E8A-4147-A177-3AD203B41FA5}">
                      <a16:colId xmlns:a16="http://schemas.microsoft.com/office/drawing/2014/main" val="1821919591"/>
                    </a:ext>
                  </a:extLst>
                </a:gridCol>
              </a:tblGrid>
              <a:tr h="89852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Код и направление компетенции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Индикаторы компетенции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Использование</a:t>
                      </a: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в 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дисциплине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51740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-1.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Понимание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бизнес-проблемы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-1.1.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Формализует бизнес-цели и вырабатывает под них стратегии внедрения ИИ.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-1.2.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Выбирает оптимальные технологии под конкретные требования проекта внедрения ИИ.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-1.3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. Готовит и ведет документы для реализации проектов в области ИИ.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анализ требований, постановка целей проекта, определение содержания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-проекта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6242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-4.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Управление процессами жизненного цикла ИИ-продукта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LC-4.1.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Осуществляет запуск и ведение проекта в области ИИ, в том числе планирование и контроль задач, оценку ресурсов.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LC-4.2.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Координирует и контролирует работу команд проекта с целью достижения общих целей проекта.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планирование проекта, организация команды, управление сроками, коммуникациями и выбором методологии управления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5119198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111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42" y="727880"/>
            <a:ext cx="10515600" cy="906169"/>
          </a:xfrm>
        </p:spPr>
        <p:txBody>
          <a:bodyPr/>
          <a:lstStyle/>
          <a:p>
            <a:r>
              <a:rPr lang="ru-RU" dirty="0"/>
              <a:t>Компетенции и индикаторы по КРМ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479B7C46-D1EB-4968-A04F-45FC3730D5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212122"/>
              </p:ext>
            </p:extLst>
          </p:nvPr>
        </p:nvGraphicFramePr>
        <p:xfrm>
          <a:off x="722741" y="1603430"/>
          <a:ext cx="11096724" cy="5071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9926">
                  <a:extLst>
                    <a:ext uri="{9D8B030D-6E8A-4147-A177-3AD203B41FA5}">
                      <a16:colId xmlns:a16="http://schemas.microsoft.com/office/drawing/2014/main" val="2662292454"/>
                    </a:ext>
                  </a:extLst>
                </a:gridCol>
                <a:gridCol w="5723466">
                  <a:extLst>
                    <a:ext uri="{9D8B030D-6E8A-4147-A177-3AD203B41FA5}">
                      <a16:colId xmlns:a16="http://schemas.microsoft.com/office/drawing/2014/main" val="3606448271"/>
                    </a:ext>
                  </a:extLst>
                </a:gridCol>
                <a:gridCol w="2963332">
                  <a:extLst>
                    <a:ext uri="{9D8B030D-6E8A-4147-A177-3AD203B41FA5}">
                      <a16:colId xmlns:a16="http://schemas.microsoft.com/office/drawing/2014/main" val="1821919591"/>
                    </a:ext>
                  </a:extLst>
                </a:gridCol>
              </a:tblGrid>
              <a:tr h="89852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Код и направление компетенции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Индикаторы компетенции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Использование</a:t>
                      </a: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в 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дисциплине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51740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-7.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Экономика ИИ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LC-7.1.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Обосновывает достижимость технико-экономических показателей ИИ за счет внедрения различных методических и технологических решений.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LC-7.3.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Оценивает риски внедрения ИИ, прогнозирует связанный с ними ущерб и дает оценку экономической эффективности на основе риск-аппетитов.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бюджетирование, оценка стоимости проекта, экономическая эффективность и управление рисками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6242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SS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-2.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Командная работа, коммуникации и лидерство в ИИ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SS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-2.1.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Эффективно коммуницирует с участниками проектной команды при планировании, реализации и анализе результатов работы в контексте гибридной команды "</a:t>
                      </a:r>
                      <a:r>
                        <a:rPr lang="ru-RU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Человек+ИИ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", включая постановку задач людям и ИИ-агентам, фиксацию договорённостей и критериев качества.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SS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-2.2.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Учитывает профессиональные и ролевые особенности коллег и контур ИИ-компонентов: адаптирует язык под аудиторию (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tech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product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level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), распределяет ответственность (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RACI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) и представляет результаты в понятном формате.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распределение ролей, взаимодействие участников проекта и управление коммуникациями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5119198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382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40"/>
            <a:ext cx="10515600" cy="825794"/>
          </a:xfrm>
        </p:spPr>
        <p:txBody>
          <a:bodyPr/>
          <a:lstStyle/>
          <a:p>
            <a:r>
              <a:rPr lang="ru-RU" dirty="0"/>
              <a:t>Структура и содержание РПД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97A8390-E147-492A-8012-2111B227C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4163721"/>
              </p:ext>
            </p:extLst>
          </p:nvPr>
        </p:nvGraphicFramePr>
        <p:xfrm>
          <a:off x="304800" y="1795463"/>
          <a:ext cx="11684000" cy="4429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365">
                  <a:extLst>
                    <a:ext uri="{9D8B030D-6E8A-4147-A177-3AD203B41FA5}">
                      <a16:colId xmlns:a16="http://schemas.microsoft.com/office/drawing/2014/main" val="1863453583"/>
                    </a:ext>
                  </a:extLst>
                </a:gridCol>
                <a:gridCol w="6395596">
                  <a:extLst>
                    <a:ext uri="{9D8B030D-6E8A-4147-A177-3AD203B41FA5}">
                      <a16:colId xmlns:a16="http://schemas.microsoft.com/office/drawing/2014/main" val="3662549353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854840004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41791266"/>
                    </a:ext>
                  </a:extLst>
                </a:gridCol>
                <a:gridCol w="849944">
                  <a:extLst>
                    <a:ext uri="{9D8B030D-6E8A-4147-A177-3AD203B41FA5}">
                      <a16:colId xmlns:a16="http://schemas.microsoft.com/office/drawing/2014/main" val="4031067356"/>
                    </a:ext>
                  </a:extLst>
                </a:gridCol>
                <a:gridCol w="774477">
                  <a:extLst>
                    <a:ext uri="{9D8B030D-6E8A-4147-A177-3AD203B41FA5}">
                      <a16:colId xmlns:a16="http://schemas.microsoft.com/office/drawing/2014/main" val="135841744"/>
                    </a:ext>
                  </a:extLst>
                </a:gridCol>
                <a:gridCol w="512456">
                  <a:extLst>
                    <a:ext uri="{9D8B030D-6E8A-4147-A177-3AD203B41FA5}">
                      <a16:colId xmlns:a16="http://schemas.microsoft.com/office/drawing/2014/main" val="2556029161"/>
                    </a:ext>
                  </a:extLst>
                </a:gridCol>
              </a:tblGrid>
              <a:tr h="622130"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dirty="0">
                          <a:latin typeface="+mn-lt"/>
                        </a:rPr>
                        <a:t>(тематические сущности)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Форма занятия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Объём, </a:t>
                      </a:r>
                      <a:r>
                        <a:rPr lang="ru-RU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а.ч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Компетенция 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538308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0800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1.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Проекты и среда управления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Основы проектного управления; документационное и организационное обеспечение проектов в сфере ИИ; эволюция проектного управления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6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</a:t>
                      </a:r>
                      <a:b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</a:br>
                      <a:r>
                        <a:rPr lang="en-US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SS-2</a:t>
                      </a:r>
                      <a:endParaRPr lang="ru-RU" sz="14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1.1, 1.3</a:t>
                      </a:r>
                      <a:br>
                        <a:rPr lang="en-US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</a:br>
                      <a:r>
                        <a:rPr lang="en-US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2.1</a:t>
                      </a:r>
                      <a:endParaRPr lang="ru-RU" sz="14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Б, С</a:t>
                      </a:r>
                      <a:br>
                        <a:rPr lang="en-US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</a:b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268589460"/>
                  </a:ext>
                </a:extLst>
              </a:tr>
              <a:tr h="668907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Основы проектного управления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Понятие проекта и продукта, системный подход к управлению проектом, классификация проектов, жизненный цикл проекта, проектное и продуктовое управление, ограничения, особенности проектов в сфере 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8523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080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Документационное и организационное обеспечение проектов в сфере ИИ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Системная модель управления проектом, организационная структура, процессы управления проектами, технико-экономическое обоснование проекта, его структура и содержание, формирование команды проекта, основные роли. 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Проектная документация. План управления проектом. Специфическая документация ИТ-проекта в области ИИ (документация на данные, документация на модели, документация по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MLOps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и индустриализации, этический и правовой аудит)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LC-1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1.1</a:t>
                      </a:r>
                      <a:b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1.3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Б</a:t>
                      </a:r>
                      <a:b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703924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080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Эволюция проектного управления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Трансформация проектного менеджмента: от индустриальных стандартов к ИИ-проектам</a:t>
                      </a:r>
                    </a:p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СР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SS-2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2.1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62071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679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40"/>
            <a:ext cx="10515600" cy="825794"/>
          </a:xfrm>
        </p:spPr>
        <p:txBody>
          <a:bodyPr/>
          <a:lstStyle/>
          <a:p>
            <a:r>
              <a:rPr lang="ru-RU" dirty="0"/>
              <a:t>Структура и содержание РПД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97A8390-E147-492A-8012-2111B227C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0914308"/>
              </p:ext>
            </p:extLst>
          </p:nvPr>
        </p:nvGraphicFramePr>
        <p:xfrm>
          <a:off x="304800" y="1795462"/>
          <a:ext cx="11684000" cy="4463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4565">
                  <a:extLst>
                    <a:ext uri="{9D8B030D-6E8A-4147-A177-3AD203B41FA5}">
                      <a16:colId xmlns:a16="http://schemas.microsoft.com/office/drawing/2014/main" val="1863453583"/>
                    </a:ext>
                  </a:extLst>
                </a:gridCol>
                <a:gridCol w="5069396">
                  <a:extLst>
                    <a:ext uri="{9D8B030D-6E8A-4147-A177-3AD203B41FA5}">
                      <a16:colId xmlns:a16="http://schemas.microsoft.com/office/drawing/2014/main" val="3662549353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854840004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41791266"/>
                    </a:ext>
                  </a:extLst>
                </a:gridCol>
                <a:gridCol w="849944">
                  <a:extLst>
                    <a:ext uri="{9D8B030D-6E8A-4147-A177-3AD203B41FA5}">
                      <a16:colId xmlns:a16="http://schemas.microsoft.com/office/drawing/2014/main" val="4031067356"/>
                    </a:ext>
                  </a:extLst>
                </a:gridCol>
                <a:gridCol w="774477">
                  <a:extLst>
                    <a:ext uri="{9D8B030D-6E8A-4147-A177-3AD203B41FA5}">
                      <a16:colId xmlns:a16="http://schemas.microsoft.com/office/drawing/2014/main" val="135841744"/>
                    </a:ext>
                  </a:extLst>
                </a:gridCol>
                <a:gridCol w="512456">
                  <a:extLst>
                    <a:ext uri="{9D8B030D-6E8A-4147-A177-3AD203B41FA5}">
                      <a16:colId xmlns:a16="http://schemas.microsoft.com/office/drawing/2014/main" val="2556029161"/>
                    </a:ext>
                  </a:extLst>
                </a:gridCol>
              </a:tblGrid>
              <a:tr h="788900"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dirty="0">
                          <a:latin typeface="+mn-lt"/>
                        </a:rPr>
                        <a:t>(тематические сущности)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Форма занятия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Объём, </a:t>
                      </a:r>
                      <a:r>
                        <a:rPr lang="ru-RU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а.ч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Компетенция 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538308000"/>
                  </a:ext>
                </a:extLst>
              </a:tr>
              <a:tr h="747877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2.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Управление содержанием проекта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Инструменты целеполагания и декомпозиции в проектах; управление содержанием технологических проектов; разработка устава и содержания AI-проекта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8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1.1-1.3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Б, 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268589460"/>
                  </a:ext>
                </a:extLst>
              </a:tr>
              <a:tr h="747877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Инструменты целеполагания и декомпозиции в проектах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Определение целей и содержания проекта, инструменты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Impact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Mapping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,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Customer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Journey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Mapping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,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User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Story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Mapping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, MBO, разработка WBS, техника SWOT-анализа, «Шесть сигм»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85238517"/>
                  </a:ext>
                </a:extLst>
              </a:tr>
              <a:tr h="527934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содержанием технологических проектов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Современные подходы к управлению содержанием сложных технологических проектов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1.3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703924292"/>
                  </a:ext>
                </a:extLst>
              </a:tr>
              <a:tr h="747877">
                <a:tc>
                  <a:txBody>
                    <a:bodyPr/>
                    <a:lstStyle/>
                    <a:p>
                      <a:pPr marL="1080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Разработка устава и содержания AI-проекта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Разработка устава AI-проекта, анализ стейкхолдеров и требований; применение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Impact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/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User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Story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Mapping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и WBS для определения содержания и границ проекта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Лаб</a:t>
                      </a: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1.1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1.3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62071622"/>
                  </a:ext>
                </a:extLst>
              </a:tr>
              <a:tr h="255979">
                <a:tc>
                  <a:txBody>
                    <a:bodyPr/>
                    <a:lstStyle/>
                    <a:p>
                      <a:pPr marL="10800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содержанием AI-проекта и анализ требований</a:t>
                      </a:r>
                    </a:p>
                  </a:txBody>
                  <a:tcPr marL="6350" marR="6350" marT="0" marB="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Анализ производственной задачи предприятия, определение целесообразности применения ИИ, постановка целей проекта. Выявление требований заказчика, определение границ проекта, анализ стейкхолдеров, выбор состава работ.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ПЗ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1.1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1.3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894030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2361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42" y="545056"/>
            <a:ext cx="10515600" cy="825794"/>
          </a:xfrm>
        </p:spPr>
        <p:txBody>
          <a:bodyPr/>
          <a:lstStyle/>
          <a:p>
            <a:r>
              <a:rPr lang="ru-RU" dirty="0"/>
              <a:t>Структура и содержание РПД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97A8390-E147-492A-8012-2111B227C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9589432"/>
              </p:ext>
            </p:extLst>
          </p:nvPr>
        </p:nvGraphicFramePr>
        <p:xfrm>
          <a:off x="138542" y="1293452"/>
          <a:ext cx="11684000" cy="5327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3704">
                  <a:extLst>
                    <a:ext uri="{9D8B030D-6E8A-4147-A177-3AD203B41FA5}">
                      <a16:colId xmlns:a16="http://schemas.microsoft.com/office/drawing/2014/main" val="1863453583"/>
                    </a:ext>
                  </a:extLst>
                </a:gridCol>
                <a:gridCol w="5260257">
                  <a:extLst>
                    <a:ext uri="{9D8B030D-6E8A-4147-A177-3AD203B41FA5}">
                      <a16:colId xmlns:a16="http://schemas.microsoft.com/office/drawing/2014/main" val="3662549353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854840004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41791266"/>
                    </a:ext>
                  </a:extLst>
                </a:gridCol>
                <a:gridCol w="849944">
                  <a:extLst>
                    <a:ext uri="{9D8B030D-6E8A-4147-A177-3AD203B41FA5}">
                      <a16:colId xmlns:a16="http://schemas.microsoft.com/office/drawing/2014/main" val="4031067356"/>
                    </a:ext>
                  </a:extLst>
                </a:gridCol>
                <a:gridCol w="774477">
                  <a:extLst>
                    <a:ext uri="{9D8B030D-6E8A-4147-A177-3AD203B41FA5}">
                      <a16:colId xmlns:a16="http://schemas.microsoft.com/office/drawing/2014/main" val="135841744"/>
                    </a:ext>
                  </a:extLst>
                </a:gridCol>
                <a:gridCol w="512456">
                  <a:extLst>
                    <a:ext uri="{9D8B030D-6E8A-4147-A177-3AD203B41FA5}">
                      <a16:colId xmlns:a16="http://schemas.microsoft.com/office/drawing/2014/main" val="2556029161"/>
                    </a:ext>
                  </a:extLst>
                </a:gridCol>
              </a:tblGrid>
              <a:tr h="678522"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dirty="0">
                          <a:latin typeface="+mn-lt"/>
                        </a:rPr>
                        <a:t>(тематические сущности)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Форма занятия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Объём, </a:t>
                      </a:r>
                      <a:r>
                        <a:rPr lang="ru-RU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а.ч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Компетенция 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538308000"/>
                  </a:ext>
                </a:extLst>
              </a:tr>
              <a:tr h="984888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3.</a:t>
                      </a:r>
                      <a:br>
                        <a:rPr lang="ru-RU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</a:b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человеческими ресурсами проекта (команда)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Команда проекта: структура, ответственность, конфликты; лидерство и самоорганизация в R&amp;D-командах, кросс-функциональные команды в высокотехнологичных проектах, структура и RACI для AI-команды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9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  <a:b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SS-2</a:t>
                      </a:r>
                      <a:endParaRPr lang="ru-RU" sz="14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4.2</a:t>
                      </a:r>
                    </a:p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2.1-2.2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Б,С</a:t>
                      </a:r>
                      <a:br>
                        <a:rPr lang="en-US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268589460"/>
                  </a:ext>
                </a:extLst>
              </a:tr>
              <a:tr h="735912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Команда проекта: структура, ответственность, конфликты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Менеджмент проектов, команда менеджмента проекта, матрица ответственности, стадии существования КМП, управление трудовыми ресурсами, конфликт интересов участников проекта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85238517"/>
                  </a:ext>
                </a:extLst>
              </a:tr>
              <a:tr h="735912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Лидерство и самоорганизация в R&amp;D-командах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Структура R&amp;D-команды и принципы управления в сложных проектах, этапы развития команды, роль лидера, культура обратной связи, самоуправление и самоорганизующиеся команды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SS-2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703924292"/>
                  </a:ext>
                </a:extLst>
              </a:tr>
              <a:tr h="787093">
                <a:tc>
                  <a:txBody>
                    <a:bodyPr/>
                    <a:lstStyle/>
                    <a:p>
                      <a:pPr marL="1080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Кросс-функциональные команды в высокотехнологичных проектах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Формирование и развитие кросс-функциональных команд в высокотехнологичных проектах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SS-2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62071622"/>
                  </a:ext>
                </a:extLst>
              </a:tr>
              <a:tr h="735912">
                <a:tc>
                  <a:txBody>
                    <a:bodyPr/>
                    <a:lstStyle/>
                    <a:p>
                      <a:pPr marL="10800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Структура и RACI для AI-команды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Разработка организационной структуры команды AI-проекта, матрица ответственности (RACI), определение ролей и зон ответственности в R&amp;D-команде, планирование коммуникаций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Лаб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188260555"/>
                  </a:ext>
                </a:extLst>
              </a:tr>
              <a:tr h="111529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Формирование проектной команды и распределение ролей</a:t>
                      </a:r>
                    </a:p>
                  </a:txBody>
                  <a:tcPr marL="6350" marR="6350" marT="0" marB="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Формирование команды AI-проекта, распределение ролей, разрешение конфликтных ситуаций, организация взаимодействия участников проекта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ПЗ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  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1409751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958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57768"/>
            <a:ext cx="10515600" cy="825794"/>
          </a:xfrm>
        </p:spPr>
        <p:txBody>
          <a:bodyPr/>
          <a:lstStyle/>
          <a:p>
            <a:r>
              <a:rPr lang="ru-RU" dirty="0"/>
              <a:t>Структура и содержание РПД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97A8390-E147-492A-8012-2111B227C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1220210"/>
              </p:ext>
            </p:extLst>
          </p:nvPr>
        </p:nvGraphicFramePr>
        <p:xfrm>
          <a:off x="304800" y="1302404"/>
          <a:ext cx="11684000" cy="4883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1863453583"/>
                    </a:ext>
                  </a:extLst>
                </a:gridCol>
                <a:gridCol w="5992761">
                  <a:extLst>
                    <a:ext uri="{9D8B030D-6E8A-4147-A177-3AD203B41FA5}">
                      <a16:colId xmlns:a16="http://schemas.microsoft.com/office/drawing/2014/main" val="3662549353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854840004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41791266"/>
                    </a:ext>
                  </a:extLst>
                </a:gridCol>
                <a:gridCol w="849944">
                  <a:extLst>
                    <a:ext uri="{9D8B030D-6E8A-4147-A177-3AD203B41FA5}">
                      <a16:colId xmlns:a16="http://schemas.microsoft.com/office/drawing/2014/main" val="4031067356"/>
                    </a:ext>
                  </a:extLst>
                </a:gridCol>
                <a:gridCol w="774477">
                  <a:extLst>
                    <a:ext uri="{9D8B030D-6E8A-4147-A177-3AD203B41FA5}">
                      <a16:colId xmlns:a16="http://schemas.microsoft.com/office/drawing/2014/main" val="135841744"/>
                    </a:ext>
                  </a:extLst>
                </a:gridCol>
                <a:gridCol w="512456">
                  <a:extLst>
                    <a:ext uri="{9D8B030D-6E8A-4147-A177-3AD203B41FA5}">
                      <a16:colId xmlns:a16="http://schemas.microsoft.com/office/drawing/2014/main" val="2556029161"/>
                    </a:ext>
                  </a:extLst>
                </a:gridCol>
              </a:tblGrid>
              <a:tr h="751092"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dirty="0">
                          <a:latin typeface="+mn-lt"/>
                        </a:rPr>
                        <a:t>(тематические сущности)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Форма занятия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Объём, </a:t>
                      </a:r>
                      <a:r>
                        <a:rPr lang="ru-RU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а.ч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Компетенция 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538308000"/>
                  </a:ext>
                </a:extLst>
              </a:tr>
              <a:tr h="312471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4.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Управление сроками проекта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Календарное планирование и сетевые модели в проектах; управление сроками проекта в условиях неопределённости; сетевое планирование проекта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8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Б, 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268589460"/>
                  </a:ext>
                </a:extLst>
              </a:tr>
              <a:tr h="668907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Календарное планирование и сетевые модели в проектах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Определение состава и взаимосвязей операций проекта, сетевые модели, календарное планирование, расчёт сетевой модели, оптимизация «время 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  <a:sym typeface="Symbol" panose="05050102010706020507" pitchFamily="18" charset="2"/>
                        </a:rPr>
                        <a:t>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затраты»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8523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сроками проекта в условиях неопределённости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Оптимизация временных параметров проекта в условиях неопределённости и быстроменяющихся требований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703924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Сетевое планирование проекта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Разработка сетевой модели проекта, диаграмма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Ганта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с учётом зависимостей задач, расчёт критического пути и резервов времени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Лаб</a:t>
                      </a: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62071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Планирование сроков реализации AI-проекта</a:t>
                      </a:r>
                    </a:p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0" marB="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Корректировка календарного плана при изменении требований, появлении новых данных или изменении результатов обучения моделей.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ПЗ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1704519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3826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40"/>
            <a:ext cx="10515600" cy="825794"/>
          </a:xfrm>
        </p:spPr>
        <p:txBody>
          <a:bodyPr/>
          <a:lstStyle/>
          <a:p>
            <a:r>
              <a:rPr lang="ru-RU" dirty="0"/>
              <a:t>Структура и содержание РПД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97A8390-E147-492A-8012-2111B227C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3851544"/>
              </p:ext>
            </p:extLst>
          </p:nvPr>
        </p:nvGraphicFramePr>
        <p:xfrm>
          <a:off x="304800" y="1795463"/>
          <a:ext cx="11684000" cy="4619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365">
                  <a:extLst>
                    <a:ext uri="{9D8B030D-6E8A-4147-A177-3AD203B41FA5}">
                      <a16:colId xmlns:a16="http://schemas.microsoft.com/office/drawing/2014/main" val="1863453583"/>
                    </a:ext>
                  </a:extLst>
                </a:gridCol>
                <a:gridCol w="6395596">
                  <a:extLst>
                    <a:ext uri="{9D8B030D-6E8A-4147-A177-3AD203B41FA5}">
                      <a16:colId xmlns:a16="http://schemas.microsoft.com/office/drawing/2014/main" val="3662549353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854840004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41791266"/>
                    </a:ext>
                  </a:extLst>
                </a:gridCol>
                <a:gridCol w="849944">
                  <a:extLst>
                    <a:ext uri="{9D8B030D-6E8A-4147-A177-3AD203B41FA5}">
                      <a16:colId xmlns:a16="http://schemas.microsoft.com/office/drawing/2014/main" val="4031067356"/>
                    </a:ext>
                  </a:extLst>
                </a:gridCol>
                <a:gridCol w="774477">
                  <a:extLst>
                    <a:ext uri="{9D8B030D-6E8A-4147-A177-3AD203B41FA5}">
                      <a16:colId xmlns:a16="http://schemas.microsoft.com/office/drawing/2014/main" val="135841744"/>
                    </a:ext>
                  </a:extLst>
                </a:gridCol>
                <a:gridCol w="512456">
                  <a:extLst>
                    <a:ext uri="{9D8B030D-6E8A-4147-A177-3AD203B41FA5}">
                      <a16:colId xmlns:a16="http://schemas.microsoft.com/office/drawing/2014/main" val="2556029161"/>
                    </a:ext>
                  </a:extLst>
                </a:gridCol>
              </a:tblGrid>
              <a:tr h="751092"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dirty="0">
                          <a:latin typeface="+mn-lt"/>
                        </a:rPr>
                        <a:t>(тематические сущности)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Форма занятия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Объём, </a:t>
                      </a:r>
                      <a:r>
                        <a:rPr lang="ru-RU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а.ч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Компетенция 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538308000"/>
                  </a:ext>
                </a:extLst>
              </a:tr>
              <a:tr h="312471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5.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Управление стоимостью проекта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Методика освоенного объёма и управление бюджетом; бюджетирование и контроль стоимости в ИИ-проектах; расчёт бюджета проекта через EVM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6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7.1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Б, 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268589460"/>
                  </a:ext>
                </a:extLst>
              </a:tr>
              <a:tr h="668907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Методика освоенного объёма и управление бюджетом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EVM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: методика освоенного объёма, показатели освоенного объёма, прогнозирование результатов выполнения проекта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8523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Бюджетирование и контроль стоимости в ИИ-проектах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Современные методы бюджетирования и контроля стоимости в инновационных (ИИ-) проектах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703924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Расчёт бюджета проекта через EVM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Расчёт бюджета проекта с использованием методики освоенного объёма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ПЗ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62071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849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40"/>
            <a:ext cx="10515600" cy="825794"/>
          </a:xfrm>
        </p:spPr>
        <p:txBody>
          <a:bodyPr/>
          <a:lstStyle/>
          <a:p>
            <a:r>
              <a:rPr lang="ru-RU" dirty="0"/>
              <a:t>Структура и содержание РПД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97A8390-E147-492A-8012-2111B227C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3575029"/>
              </p:ext>
            </p:extLst>
          </p:nvPr>
        </p:nvGraphicFramePr>
        <p:xfrm>
          <a:off x="304800" y="1795463"/>
          <a:ext cx="11684000" cy="4619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365">
                  <a:extLst>
                    <a:ext uri="{9D8B030D-6E8A-4147-A177-3AD203B41FA5}">
                      <a16:colId xmlns:a16="http://schemas.microsoft.com/office/drawing/2014/main" val="1863453583"/>
                    </a:ext>
                  </a:extLst>
                </a:gridCol>
                <a:gridCol w="6395596">
                  <a:extLst>
                    <a:ext uri="{9D8B030D-6E8A-4147-A177-3AD203B41FA5}">
                      <a16:colId xmlns:a16="http://schemas.microsoft.com/office/drawing/2014/main" val="3662549353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854840004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41791266"/>
                    </a:ext>
                  </a:extLst>
                </a:gridCol>
                <a:gridCol w="849944">
                  <a:extLst>
                    <a:ext uri="{9D8B030D-6E8A-4147-A177-3AD203B41FA5}">
                      <a16:colId xmlns:a16="http://schemas.microsoft.com/office/drawing/2014/main" val="4031067356"/>
                    </a:ext>
                  </a:extLst>
                </a:gridCol>
                <a:gridCol w="774477">
                  <a:extLst>
                    <a:ext uri="{9D8B030D-6E8A-4147-A177-3AD203B41FA5}">
                      <a16:colId xmlns:a16="http://schemas.microsoft.com/office/drawing/2014/main" val="135841744"/>
                    </a:ext>
                  </a:extLst>
                </a:gridCol>
                <a:gridCol w="512456">
                  <a:extLst>
                    <a:ext uri="{9D8B030D-6E8A-4147-A177-3AD203B41FA5}">
                      <a16:colId xmlns:a16="http://schemas.microsoft.com/office/drawing/2014/main" val="2556029161"/>
                    </a:ext>
                  </a:extLst>
                </a:gridCol>
              </a:tblGrid>
              <a:tr h="751092"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dirty="0">
                          <a:latin typeface="+mn-lt"/>
                        </a:rPr>
                        <a:t>(тематические сущности)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Форма занятия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Объём, </a:t>
                      </a:r>
                      <a:r>
                        <a:rPr lang="ru-RU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а.ч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Компетенция 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538308000"/>
                  </a:ext>
                </a:extLst>
              </a:tr>
              <a:tr h="312471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6.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Управление качеством проекта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Методы управления качеством в проектах; качество в технологических компаниях: стандарты и практика; план качества и метрики для AI-продукта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5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268589460"/>
                  </a:ext>
                </a:extLst>
              </a:tr>
              <a:tr h="668907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Методы управления качеством в проектах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Управление качеством проекта, стандартизация, функционально-стоимостной и функционально-физический анализ, методы определения показателей качества, диаграммы Парето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8523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Качество в технологических компаниях: стандарты и практика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Системы менеджмента качества в технологических компаниях: от стандартов к практике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703924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План качества и метрики для AI-продукта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Разработка плана управления качеством AI-продукта, диаграммы Парето для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приоритизации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задач качества, определение метрик качества ML-моделей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Лаб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62071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7973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40"/>
            <a:ext cx="10515600" cy="825794"/>
          </a:xfrm>
        </p:spPr>
        <p:txBody>
          <a:bodyPr/>
          <a:lstStyle/>
          <a:p>
            <a:r>
              <a:rPr lang="ru-RU" dirty="0"/>
              <a:t>Структура и содержание РПД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97A8390-E147-492A-8012-2111B227C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4820703"/>
              </p:ext>
            </p:extLst>
          </p:nvPr>
        </p:nvGraphicFramePr>
        <p:xfrm>
          <a:off x="304800" y="1795463"/>
          <a:ext cx="11684000" cy="4731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6282">
                  <a:extLst>
                    <a:ext uri="{9D8B030D-6E8A-4147-A177-3AD203B41FA5}">
                      <a16:colId xmlns:a16="http://schemas.microsoft.com/office/drawing/2014/main" val="1863453583"/>
                    </a:ext>
                  </a:extLst>
                </a:gridCol>
                <a:gridCol w="4997679">
                  <a:extLst>
                    <a:ext uri="{9D8B030D-6E8A-4147-A177-3AD203B41FA5}">
                      <a16:colId xmlns:a16="http://schemas.microsoft.com/office/drawing/2014/main" val="3662549353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854840004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41791266"/>
                    </a:ext>
                  </a:extLst>
                </a:gridCol>
                <a:gridCol w="849944">
                  <a:extLst>
                    <a:ext uri="{9D8B030D-6E8A-4147-A177-3AD203B41FA5}">
                      <a16:colId xmlns:a16="http://schemas.microsoft.com/office/drawing/2014/main" val="4031067356"/>
                    </a:ext>
                  </a:extLst>
                </a:gridCol>
                <a:gridCol w="774477">
                  <a:extLst>
                    <a:ext uri="{9D8B030D-6E8A-4147-A177-3AD203B41FA5}">
                      <a16:colId xmlns:a16="http://schemas.microsoft.com/office/drawing/2014/main" val="135841744"/>
                    </a:ext>
                  </a:extLst>
                </a:gridCol>
                <a:gridCol w="512456">
                  <a:extLst>
                    <a:ext uri="{9D8B030D-6E8A-4147-A177-3AD203B41FA5}">
                      <a16:colId xmlns:a16="http://schemas.microsoft.com/office/drawing/2014/main" val="2556029161"/>
                    </a:ext>
                  </a:extLst>
                </a:gridCol>
              </a:tblGrid>
              <a:tr h="821703"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dirty="0">
                          <a:latin typeface="+mn-lt"/>
                        </a:rPr>
                        <a:t>(тематические сущности)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Форма занятия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Объём, </a:t>
                      </a:r>
                      <a:r>
                        <a:rPr lang="ru-RU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а.ч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Компетенция 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538308000"/>
                  </a:ext>
                </a:extLst>
              </a:tr>
              <a:tr h="738185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7.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Управление рисками и взаимодействием в проекте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Управление рисками и взаимодействие с внешними участниками; коммуникации и стейкхолдеры в сложной проектной среде; управление рисками </a:t>
                      </a:r>
                      <a:r>
                        <a:rPr lang="en-US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AI-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проекта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  <a:b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4.2</a:t>
                      </a:r>
                      <a:b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7.3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  <a:b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Б, 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268589460"/>
                  </a:ext>
                </a:extLst>
              </a:tr>
              <a:tr h="1237673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рисками и взаимодействие с внешними участниками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Виды и источники рисков проекта (предприятие, предметная область, ресурсы, техника, рынок, контрагенты, управление), реестр рисков TOP-10, управление проблемами и изменениями, управление взаимодействием с внешними участниками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7.3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85238517"/>
                  </a:ext>
                </a:extLst>
              </a:tr>
              <a:tr h="521093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Коммуникации и стейкхолдеры в сложной проектной среде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Управление стейкхолдерами и коммуникациями в сложных проектных средах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703924292"/>
                  </a:ext>
                </a:extLst>
              </a:tr>
              <a:tr h="738185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рисками 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AI-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проекта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Идентификация рисков, специфичных для AI-проектов, качественная и количественная оценка рисков, разработка плана реагирования, реестр рисков TOP-10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Лаб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7.3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62071622"/>
                  </a:ext>
                </a:extLst>
              </a:tr>
              <a:tr h="252662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рисками 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AI-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проекта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Идентификация рисков, специфичных для AI-проектов, качественная и количественная оценка рисков, разработка плана реагирования, реестр рисков TOP-10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ПЗ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7.3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132246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438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30" y="545056"/>
            <a:ext cx="10515600" cy="825794"/>
          </a:xfrm>
        </p:spPr>
        <p:txBody>
          <a:bodyPr/>
          <a:lstStyle/>
          <a:p>
            <a:r>
              <a:rPr lang="ru-RU" dirty="0"/>
              <a:t>Структура и содержание РПД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97A8390-E147-492A-8012-2111B227C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4823848"/>
              </p:ext>
            </p:extLst>
          </p:nvPr>
        </p:nvGraphicFramePr>
        <p:xfrm>
          <a:off x="331694" y="1226091"/>
          <a:ext cx="11684000" cy="5445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5577">
                  <a:extLst>
                    <a:ext uri="{9D8B030D-6E8A-4147-A177-3AD203B41FA5}">
                      <a16:colId xmlns:a16="http://schemas.microsoft.com/office/drawing/2014/main" val="1863453583"/>
                    </a:ext>
                  </a:extLst>
                </a:gridCol>
                <a:gridCol w="4818384">
                  <a:extLst>
                    <a:ext uri="{9D8B030D-6E8A-4147-A177-3AD203B41FA5}">
                      <a16:colId xmlns:a16="http://schemas.microsoft.com/office/drawing/2014/main" val="3662549353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854840004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41791266"/>
                    </a:ext>
                  </a:extLst>
                </a:gridCol>
                <a:gridCol w="849944">
                  <a:extLst>
                    <a:ext uri="{9D8B030D-6E8A-4147-A177-3AD203B41FA5}">
                      <a16:colId xmlns:a16="http://schemas.microsoft.com/office/drawing/2014/main" val="4031067356"/>
                    </a:ext>
                  </a:extLst>
                </a:gridCol>
                <a:gridCol w="774477">
                  <a:extLst>
                    <a:ext uri="{9D8B030D-6E8A-4147-A177-3AD203B41FA5}">
                      <a16:colId xmlns:a16="http://schemas.microsoft.com/office/drawing/2014/main" val="135841744"/>
                    </a:ext>
                  </a:extLst>
                </a:gridCol>
                <a:gridCol w="512456">
                  <a:extLst>
                    <a:ext uri="{9D8B030D-6E8A-4147-A177-3AD203B41FA5}">
                      <a16:colId xmlns:a16="http://schemas.microsoft.com/office/drawing/2014/main" val="2556029161"/>
                    </a:ext>
                  </a:extLst>
                </a:gridCol>
              </a:tblGrid>
              <a:tr h="812293"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dirty="0">
                          <a:latin typeface="+mn-lt"/>
                        </a:rPr>
                        <a:t>(тематические сущности)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Форма занятия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Объём, </a:t>
                      </a:r>
                      <a:r>
                        <a:rPr lang="ru-RU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а.ч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Компетенция 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538308000"/>
                  </a:ext>
                </a:extLst>
              </a:tr>
              <a:tr h="946863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8.</a:t>
                      </a:r>
                      <a:b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</a:b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проектами в сфере искусственного интеллекта: методы, подходы, инструментарий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Гибкие методологии управления проектами в ИИ-контексте; выбор методологии для </a:t>
                      </a:r>
                      <a:r>
                        <a:rPr lang="en-US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AI-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проекта; планирование спринта и </a:t>
                      </a:r>
                      <a:r>
                        <a:rPr lang="en-US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Scrum-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церемонии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С, П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268589460"/>
                  </a:ext>
                </a:extLst>
              </a:tr>
              <a:tr h="976616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Гибкие методологии управления проектами в ИИ-контексте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Выбор оптимальной методологии управления проектом на основе модели C</a:t>
                      </a:r>
                      <a:r>
                        <a:rPr lang="en-US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ynefin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. Гибкие методы управления проектами: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Agile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, практики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Scrum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, XP; адаптация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Lean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и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Agile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к проектам в сфере ИИ на примере </a:t>
                      </a:r>
                      <a:r>
                        <a:rPr lang="en-US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Lean DS</a:t>
                      </a: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85238517"/>
                  </a:ext>
                </a:extLst>
              </a:tr>
              <a:tr h="723412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Инструментальная среда проектного менеджмента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Среда управления проектами, виды систем управления проектами, специализированные КСУП-системы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371516136"/>
                  </a:ext>
                </a:extLst>
              </a:tr>
              <a:tr h="515126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Выбор методологии для 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AI-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проекта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Сравнительный анализ и выбор методологии управления AI-проектом под ограничения задачи и ресурсное обеспечение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703924292"/>
                  </a:ext>
                </a:extLst>
              </a:tr>
              <a:tr h="729732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Планирование спринта и 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Scrum-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церемонии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Организация рабочего процесса по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Scrum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, планирование спринта, ежедневные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стендапы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, ретроспектива по итогам спринта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Лаб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П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62071622"/>
                  </a:ext>
                </a:extLst>
              </a:tr>
              <a:tr h="249769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Выбор методологии и принятие управленческих решений в AI-проекте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Комплексный кейс индустриального партнера: выбор подхода (</a:t>
                      </a:r>
                      <a:r>
                        <a:rPr lang="de-DE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Waterfall</a:t>
                      </a:r>
                      <a:r>
                        <a:rPr lang="de-DE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, Agile, </a:t>
                      </a:r>
                      <a:r>
                        <a:rPr lang="de-DE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Scrum</a:t>
                      </a:r>
                      <a:r>
                        <a:rPr lang="de-DE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, CRISP-DM, CRISP-ML(Q), Lean DS), 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организация 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ПЗ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П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644736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6247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999" y="616387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Структура и содержание РПД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97A8390-E147-492A-8012-2111B227C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7533904"/>
              </p:ext>
            </p:extLst>
          </p:nvPr>
        </p:nvGraphicFramePr>
        <p:xfrm>
          <a:off x="253999" y="1232772"/>
          <a:ext cx="11684000" cy="3936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774">
                  <a:extLst>
                    <a:ext uri="{9D8B030D-6E8A-4147-A177-3AD203B41FA5}">
                      <a16:colId xmlns:a16="http://schemas.microsoft.com/office/drawing/2014/main" val="1863453583"/>
                    </a:ext>
                  </a:extLst>
                </a:gridCol>
                <a:gridCol w="5909187">
                  <a:extLst>
                    <a:ext uri="{9D8B030D-6E8A-4147-A177-3AD203B41FA5}">
                      <a16:colId xmlns:a16="http://schemas.microsoft.com/office/drawing/2014/main" val="3662549353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854840004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41791266"/>
                    </a:ext>
                  </a:extLst>
                </a:gridCol>
                <a:gridCol w="849944">
                  <a:extLst>
                    <a:ext uri="{9D8B030D-6E8A-4147-A177-3AD203B41FA5}">
                      <a16:colId xmlns:a16="http://schemas.microsoft.com/office/drawing/2014/main" val="4031067356"/>
                    </a:ext>
                  </a:extLst>
                </a:gridCol>
                <a:gridCol w="774477">
                  <a:extLst>
                    <a:ext uri="{9D8B030D-6E8A-4147-A177-3AD203B41FA5}">
                      <a16:colId xmlns:a16="http://schemas.microsoft.com/office/drawing/2014/main" val="135841744"/>
                    </a:ext>
                  </a:extLst>
                </a:gridCol>
                <a:gridCol w="512456">
                  <a:extLst>
                    <a:ext uri="{9D8B030D-6E8A-4147-A177-3AD203B41FA5}">
                      <a16:colId xmlns:a16="http://schemas.microsoft.com/office/drawing/2014/main" val="2556029161"/>
                    </a:ext>
                  </a:extLst>
                </a:gridCol>
              </a:tblGrid>
              <a:tr h="751092"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dirty="0">
                          <a:latin typeface="+mn-lt"/>
                        </a:rPr>
                        <a:t>(тематические сущности)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Форма занятия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Объём, </a:t>
                      </a:r>
                      <a:r>
                        <a:rPr lang="ru-RU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а.ч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Компетенция 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538308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Промежуточная аттестация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703924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Консультирование</a:t>
                      </a:r>
                    </a:p>
                  </a:txBody>
                  <a:tcPr marL="6350" marR="6350" marT="0" marB="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Консультирование перед экзаменом: разбор типовых билетов и практико-ориентированных заданий, ответы на вопросы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Конс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LC-1</a:t>
                      </a:r>
                      <a:b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  <a:b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LC-7</a:t>
                      </a:r>
                      <a:b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SS-2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1.1-1.3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4.1-4.2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7.1, 7.3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2.1-2.2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62071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Экзамен</a:t>
                      </a:r>
                    </a:p>
                  </a:txBody>
                  <a:tcPr marL="6350" marR="6350" marT="0" marB="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Итоговая проверка сформированности компетенций по дисциплине (билеты, практико-ориентированные задания)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Э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0,35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5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  <a:t>LC-1</a:t>
                      </a:r>
                      <a:br>
                        <a:rPr kumimoji="0" lang="ru-RU" sz="1400" b="0" i="0" u="none" strike="noStrike" kern="15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kumimoji="0" lang="ru-RU" sz="1400" b="0" i="0" u="none" strike="noStrike" kern="15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  <a:br>
                        <a:rPr kumimoji="0" lang="ru-RU" sz="1400" b="0" i="0" u="none" strike="noStrike" kern="15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kumimoji="0" lang="ru-RU" sz="1400" b="0" i="0" u="none" strike="noStrike" kern="15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  <a:t>LC-7</a:t>
                      </a:r>
                      <a:br>
                        <a:rPr kumimoji="0" lang="ru-RU" sz="1400" b="0" i="0" u="none" strike="noStrike" kern="15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kumimoji="0" lang="ru-RU" sz="1400" b="0" i="0" u="none" strike="noStrike" kern="15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  <a:t>SS-2</a:t>
                      </a:r>
                      <a:endParaRPr kumimoji="0" lang="ru-RU" sz="1400" b="0" i="0" u="none" strike="noStrike" kern="15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1.1-1.3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4.1-4.2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7.1, 7.3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2.1-2.2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776294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Самоподготовка к экзамену</a:t>
                      </a:r>
                    </a:p>
                  </a:txBody>
                  <a:tcPr marL="6350" marR="6350" marT="0" marB="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Самостоятельная подготовка к промежуточной аттестации (повторение теории, отработка практических кейсов)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44,65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5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  <a:t>LC-1</a:t>
                      </a:r>
                      <a:br>
                        <a:rPr kumimoji="0" lang="ru-RU" sz="1400" b="0" i="0" u="none" strike="noStrike" kern="15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kumimoji="0" lang="ru-RU" sz="1400" b="0" i="0" u="none" strike="noStrike" kern="15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  <a:br>
                        <a:rPr kumimoji="0" lang="ru-RU" sz="1400" b="0" i="0" u="none" strike="noStrike" kern="15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kumimoji="0" lang="ru-RU" sz="1400" b="0" i="0" u="none" strike="noStrike" kern="15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  <a:t>LC-7</a:t>
                      </a:r>
                      <a:br>
                        <a:rPr kumimoji="0" lang="ru-RU" sz="1400" b="0" i="0" u="none" strike="noStrike" kern="15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kumimoji="0" lang="ru-RU" sz="1400" b="0" i="0" u="none" strike="noStrike" kern="15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  <a:t>SS-2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1.1-1.3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4.1-4.2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7.1, 7.3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2.1-2.2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519187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4149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DB7BBF-72B7-AF68-4191-A926AAE3D3C2}"/>
              </a:ext>
            </a:extLst>
          </p:cNvPr>
          <p:cNvSpPr/>
          <p:nvPr/>
        </p:nvSpPr>
        <p:spPr>
          <a:xfrm>
            <a:off x="16623" y="1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64E0A62-9509-94F3-8748-6C1FF7DC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0E483-EE1D-D3E9-579F-F08BABC2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42" y="880874"/>
            <a:ext cx="10400142" cy="878761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Место дисциплины</a:t>
            </a:r>
            <a:br>
              <a:rPr lang="ru-RU" sz="3600" dirty="0">
                <a:solidFill>
                  <a:schemeClr val="bg1"/>
                </a:solidFill>
              </a:rPr>
            </a:br>
            <a:r>
              <a:rPr lang="ru-RU" sz="3600" dirty="0">
                <a:solidFill>
                  <a:schemeClr val="bg1"/>
                </a:solidFill>
              </a:rPr>
              <a:t>«Управление проектами в сфере ИИ»</a:t>
            </a:r>
            <a:br>
              <a:rPr lang="ru-RU" sz="3600" dirty="0">
                <a:solidFill>
                  <a:schemeClr val="bg1"/>
                </a:solidFill>
              </a:rPr>
            </a:br>
            <a:r>
              <a:rPr lang="ru-RU" sz="3600" dirty="0">
                <a:solidFill>
                  <a:schemeClr val="bg1"/>
                </a:solidFill>
              </a:rPr>
              <a:t>в учебном плане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3D0B2A8C-4966-E62C-16D2-22E73CF8EC6E}"/>
              </a:ext>
            </a:extLst>
          </p:cNvPr>
          <p:cNvSpPr/>
          <p:nvPr/>
        </p:nvSpPr>
        <p:spPr>
          <a:xfrm>
            <a:off x="491751" y="2231451"/>
            <a:ext cx="11208494" cy="4579254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490103AF-7765-4487-80D8-F3AA4B88B3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6439134"/>
              </p:ext>
            </p:extLst>
          </p:nvPr>
        </p:nvGraphicFramePr>
        <p:xfrm>
          <a:off x="636164" y="2981720"/>
          <a:ext cx="10847624" cy="3492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812">
                  <a:extLst>
                    <a:ext uri="{9D8B030D-6E8A-4147-A177-3AD203B41FA5}">
                      <a16:colId xmlns:a16="http://schemas.microsoft.com/office/drawing/2014/main" val="729368780"/>
                    </a:ext>
                  </a:extLst>
                </a:gridCol>
                <a:gridCol w="5423812">
                  <a:extLst>
                    <a:ext uri="{9D8B030D-6E8A-4147-A177-3AD203B41FA5}">
                      <a16:colId xmlns:a16="http://schemas.microsoft.com/office/drawing/2014/main" val="1109930941"/>
                    </a:ext>
                  </a:extLst>
                </a:gridCol>
              </a:tblGrid>
              <a:tr h="50635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Вид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нагрузки</a:t>
                      </a:r>
                      <a:endParaRPr lang="ru-RU" sz="11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Часы</a:t>
                      </a:r>
                      <a:endParaRPr lang="ru-RU" sz="11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1980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Лекции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24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8697121"/>
                  </a:ext>
                </a:extLst>
              </a:tr>
              <a:tr h="3906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Лабораторные работы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12</a:t>
                      </a:r>
                      <a:endParaRPr kumimoji="0" lang="ru-RU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0850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Практические занятия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12</a:t>
                      </a:r>
                      <a:endParaRPr kumimoji="0" lang="ru-RU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3265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Самостоятельная работа</a:t>
                      </a:r>
                      <a:endParaRPr lang="ru-RU" sz="105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13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0206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Консультирование перед экзаменом</a:t>
                      </a:r>
                      <a:endParaRPr lang="ru-RU" sz="105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2326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Сдача экзамена</a:t>
                      </a:r>
                      <a:endParaRPr lang="ru-RU" sz="105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0,35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5611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Часы на контроль </a:t>
                      </a:r>
                      <a:endParaRPr lang="ru-RU" sz="105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44,65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5384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ИТОГО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108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4097093"/>
                  </a:ext>
                </a:extLst>
              </a:tr>
            </a:tbl>
          </a:graphicData>
        </a:graphic>
      </p:graphicFrame>
      <p:sp>
        <p:nvSpPr>
          <p:cNvPr id="9" name="Объект 11">
            <a:extLst>
              <a:ext uri="{FF2B5EF4-FFF2-40B4-BE49-F238E27FC236}">
                <a16:creationId xmlns:a16="http://schemas.microsoft.com/office/drawing/2014/main" id="{31E8909F-A678-4F47-B9A6-50ED96A9ABB0}"/>
              </a:ext>
            </a:extLst>
          </p:cNvPr>
          <p:cNvSpPr txBox="1">
            <a:spLocks/>
          </p:cNvSpPr>
          <p:nvPr/>
        </p:nvSpPr>
        <p:spPr>
          <a:xfrm>
            <a:off x="838201" y="2231451"/>
            <a:ext cx="10400141" cy="810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400" dirty="0"/>
              <a:t>Дисциплина изучается в </a:t>
            </a:r>
            <a:r>
              <a:rPr lang="ru-RU" sz="2400" b="1" dirty="0"/>
              <a:t>7 семестре</a:t>
            </a:r>
            <a:r>
              <a:rPr lang="ru-RU" sz="2400" dirty="0"/>
              <a:t>.</a:t>
            </a:r>
            <a:br>
              <a:rPr lang="ru-RU" sz="2400" dirty="0"/>
            </a:br>
            <a:r>
              <a:rPr lang="ru-RU" sz="2400" dirty="0"/>
              <a:t>Трудоемкость - </a:t>
            </a:r>
            <a:r>
              <a:rPr lang="ru-RU" sz="2400" b="1" dirty="0"/>
              <a:t>108 ч.</a:t>
            </a:r>
            <a:r>
              <a:rPr lang="ru-RU" sz="2400" dirty="0"/>
              <a:t>, </a:t>
            </a:r>
            <a:r>
              <a:rPr lang="ru-RU" sz="2400" b="1" dirty="0"/>
              <a:t>3 </a:t>
            </a:r>
            <a:r>
              <a:rPr lang="ru-RU" sz="2400" b="1" dirty="0" err="1"/>
              <a:t>з.е</a:t>
            </a:r>
            <a:r>
              <a:rPr lang="ru-RU" sz="2400" b="1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829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799553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Пререквизиты</a:t>
            </a:r>
            <a:endParaRPr lang="ru-RU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190F0551-C7BB-4994-A553-4D33184B7C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5630271"/>
              </p:ext>
            </p:extLst>
          </p:nvPr>
        </p:nvGraphicFramePr>
        <p:xfrm>
          <a:off x="304799" y="1480590"/>
          <a:ext cx="11633200" cy="5327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5869">
                  <a:extLst>
                    <a:ext uri="{9D8B030D-6E8A-4147-A177-3AD203B41FA5}">
                      <a16:colId xmlns:a16="http://schemas.microsoft.com/office/drawing/2014/main" val="805161589"/>
                    </a:ext>
                  </a:extLst>
                </a:gridCol>
                <a:gridCol w="1710266">
                  <a:extLst>
                    <a:ext uri="{9D8B030D-6E8A-4147-A177-3AD203B41FA5}">
                      <a16:colId xmlns:a16="http://schemas.microsoft.com/office/drawing/2014/main" val="3665831781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3035013367"/>
                    </a:ext>
                  </a:extLst>
                </a:gridCol>
                <a:gridCol w="1405465">
                  <a:extLst>
                    <a:ext uri="{9D8B030D-6E8A-4147-A177-3AD203B41FA5}">
                      <a16:colId xmlns:a16="http://schemas.microsoft.com/office/drawing/2014/main" val="218184386"/>
                    </a:ext>
                  </a:extLst>
                </a:gridCol>
              </a:tblGrid>
              <a:tr h="401227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Дисциплина / практика (</a:t>
                      </a:r>
                      <a:r>
                        <a:rPr lang="ru-RU" sz="14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пререквизит</a:t>
                      </a:r>
                      <a:r>
                        <a:rPr lang="ru-RU" sz="14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)</a:t>
                      </a:r>
                      <a:endParaRPr lang="ru-RU" sz="14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Компетенция КРМ</a:t>
                      </a:r>
                      <a:endParaRPr lang="ru-RU" sz="14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Освоенные ранее индикаторы (входной уровень)</a:t>
                      </a:r>
                      <a:endParaRPr lang="ru-RU" sz="14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Уровень на входе</a:t>
                      </a:r>
                      <a:endParaRPr lang="ru-RU" sz="14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368357934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Основы программной инженерии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LC-3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LC-3.1. Представление об архитектуре и жизненном цикле систем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1168654886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Технологическая практика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LC-5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LC-5.1. Базовые инструменты промышленной разработки и сопровождения ПО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936221742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Введение в машинное обучение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LC-2.1. Базовые эксперименты с моделями МО, оценка качества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920433177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Основы систем искусственного интеллекта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LC-8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LC-8.1 (ML-1.1). Ориентация в основных направлениях и трендах 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1732973181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Искусственные нейронные сети и глубокое обучение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LC-2.1–LC-2.2. Проведение экспериментов и оценка моделей 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Б/С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18639709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Автоматизированное машинное обучение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LC-2.1. Автоматизация экспериментов с моделями 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858791631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Деловые коммуникации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SS-2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SS-2.1. Эффективная коммуникация в проектной команде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1687476152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Введение в профессиональную деятельность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SS-1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SS-1.1. Понимание роли специалиста и этических принципов 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02628179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Тестирование ПО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LC-5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LC-5.1. Оценка качества инструментов и практик разработки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271286621"/>
                  </a:ext>
                </a:extLst>
              </a:tr>
              <a:tr h="947555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Системная инженерия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LC-1.1. Формализует бизнес-цели и вырабатывает под них стратегии внедрения ИИ</a:t>
                      </a:r>
                    </a:p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LC-1.2. Выбирает оптимальные технологии под конкретные требования проекта внедрения 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159399614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107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929073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Постреквизиты</a:t>
            </a:r>
            <a:endParaRPr lang="ru-RU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190F0551-C7BB-4994-A553-4D33184B7C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8388544"/>
              </p:ext>
            </p:extLst>
          </p:nvPr>
        </p:nvGraphicFramePr>
        <p:xfrm>
          <a:off x="304799" y="1892521"/>
          <a:ext cx="11633200" cy="3072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5869">
                  <a:extLst>
                    <a:ext uri="{9D8B030D-6E8A-4147-A177-3AD203B41FA5}">
                      <a16:colId xmlns:a16="http://schemas.microsoft.com/office/drawing/2014/main" val="805161589"/>
                    </a:ext>
                  </a:extLst>
                </a:gridCol>
                <a:gridCol w="1710266">
                  <a:extLst>
                    <a:ext uri="{9D8B030D-6E8A-4147-A177-3AD203B41FA5}">
                      <a16:colId xmlns:a16="http://schemas.microsoft.com/office/drawing/2014/main" val="3665831781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3035013367"/>
                    </a:ext>
                  </a:extLst>
                </a:gridCol>
                <a:gridCol w="1405465">
                  <a:extLst>
                    <a:ext uri="{9D8B030D-6E8A-4147-A177-3AD203B41FA5}">
                      <a16:colId xmlns:a16="http://schemas.microsoft.com/office/drawing/2014/main" val="218184386"/>
                    </a:ext>
                  </a:extLst>
                </a:gridCol>
              </a:tblGrid>
              <a:tr h="401227">
                <a:tc>
                  <a:txBody>
                    <a:bodyPr/>
                    <a:lstStyle/>
                    <a:p>
                      <a:pPr marL="1800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Дисциплина / практика</a:t>
                      </a:r>
                      <a:b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</a:b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(для которой данная дисциплина — </a:t>
                      </a:r>
                      <a:r>
                        <a:rPr lang="ru-RU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пререквизит</a:t>
                      </a: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)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Компетенция КРМ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Индикаторы, формируемые в данной дисциплине как база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Выходной уровень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368357934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Производственная практика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LC-4.1–LC-4.3. Ведение проекта, координация команды, контроль реализации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1168654886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Преддипломная практика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LC-4.1–LC-4.3. Управление процессом жизненного цикла ИИ-продукта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936221742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Выполнение и защита ВКР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LC-4, LC-7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LC-4.1; LC-7.1. Планирование и экономическое обоснование проектной части работы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920433177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Рекомендательные системы и системы поддержки принятия решений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LC-1, 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LC-1.1–LC-1.3; LC-4.1. Постановка задачи и ведение проекта на прикладном материале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1732973181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745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42" y="863861"/>
            <a:ext cx="10515600" cy="973902"/>
          </a:xfrm>
        </p:spPr>
        <p:txBody>
          <a:bodyPr/>
          <a:lstStyle/>
          <a:p>
            <a:r>
              <a:rPr lang="ru-RU" dirty="0"/>
              <a:t>Система оценки результатов обучения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56167E85-D08C-4215-AB7F-0F4CA8272C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3449062"/>
              </p:ext>
            </p:extLst>
          </p:nvPr>
        </p:nvGraphicFramePr>
        <p:xfrm>
          <a:off x="254000" y="1659645"/>
          <a:ext cx="11684000" cy="5015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27481082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771864243"/>
                    </a:ext>
                  </a:extLst>
                </a:gridCol>
                <a:gridCol w="5012267">
                  <a:extLst>
                    <a:ext uri="{9D8B030D-6E8A-4147-A177-3AD203B41FA5}">
                      <a16:colId xmlns:a16="http://schemas.microsoft.com/office/drawing/2014/main" val="2765135530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369402958"/>
                    </a:ext>
                  </a:extLst>
                </a:gridCol>
                <a:gridCol w="1642533">
                  <a:extLst>
                    <a:ext uri="{9D8B030D-6E8A-4147-A177-3AD203B41FA5}">
                      <a16:colId xmlns:a16="http://schemas.microsoft.com/office/drawing/2014/main" val="3372626929"/>
                    </a:ext>
                  </a:extLst>
                </a:gridCol>
              </a:tblGrid>
              <a:tr h="4867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Компетенции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Дескриптор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освоения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Форма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контроля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Вид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КИМ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9535136"/>
                  </a:ext>
                </a:extLst>
              </a:tr>
              <a:tr h="14823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 1.</a:t>
                      </a:r>
                      <a:b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</a:b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Проекты и среда управления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LC-1; SS-2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Определяет и формализует проблему предметной области, решение которой требует применения ИИ; формализует особенности проектов в сфере ИИ. Понимает общую цель команды, участвует в обсуждении задач планирования и реализации проекта.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Опрос / мини-эссе; практическое задание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1343612"/>
                  </a:ext>
                </a:extLst>
              </a:tr>
              <a:tr h="14823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2.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Управление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содержанием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проекта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Проводит анализ требований к системе ИИ, оценивает и разрабатывает технические требования на основе формализованной постановки задачи. Формализует бизнес-цель заказчика, выявляет заинтересованные стороны и требования; разрабатывает ТЗ на систему ИИ с учётом специфики предметной области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Практическое задание; лабораторная работа (устав проекта, 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WBS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3325990"/>
                  </a:ext>
                </a:extLst>
              </a:tr>
              <a:tr h="139748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Модуль 3. </a:t>
                      </a:r>
                      <a:r>
                        <a:rPr lang="ru-RU" sz="16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Управление человеческими ресурсами проекта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LC-4; SS-2</a:t>
                      </a:r>
                      <a:endParaRPr lang="ru-RU" sz="16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Обеспечивает взаимодействие всех участников проекта. Осуществляет коммуникации между аналитиками данных, инженерами, разработчиками и руководителями подразделений для масштабирования ИИ-инициатив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Текущий</a:t>
                      </a:r>
                      <a:endParaRPr lang="ru-RU" sz="16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Практическое задание; лабораторная работа (матрица </a:t>
                      </a:r>
                      <a:r>
                        <a:rPr lang="en-US" sz="16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RACI</a:t>
                      </a:r>
                      <a:r>
                        <a:rPr lang="ru-RU" sz="16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0830653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906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42" y="863861"/>
            <a:ext cx="10515600" cy="973902"/>
          </a:xfrm>
        </p:spPr>
        <p:txBody>
          <a:bodyPr/>
          <a:lstStyle/>
          <a:p>
            <a:r>
              <a:rPr lang="ru-RU" dirty="0"/>
              <a:t>Система оценки результатов обучения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56167E85-D08C-4215-AB7F-0F4CA8272C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2506793"/>
              </p:ext>
            </p:extLst>
          </p:nvPr>
        </p:nvGraphicFramePr>
        <p:xfrm>
          <a:off x="254000" y="1659645"/>
          <a:ext cx="11684000" cy="4872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867">
                  <a:extLst>
                    <a:ext uri="{9D8B030D-6E8A-4147-A177-3AD203B41FA5}">
                      <a16:colId xmlns:a16="http://schemas.microsoft.com/office/drawing/2014/main" val="4274810821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2771864243"/>
                    </a:ext>
                  </a:extLst>
                </a:gridCol>
                <a:gridCol w="5130800">
                  <a:extLst>
                    <a:ext uri="{9D8B030D-6E8A-4147-A177-3AD203B41FA5}">
                      <a16:colId xmlns:a16="http://schemas.microsoft.com/office/drawing/2014/main" val="2765135530"/>
                    </a:ext>
                  </a:extLst>
                </a:gridCol>
                <a:gridCol w="1185333">
                  <a:extLst>
                    <a:ext uri="{9D8B030D-6E8A-4147-A177-3AD203B41FA5}">
                      <a16:colId xmlns:a16="http://schemas.microsoft.com/office/drawing/2014/main" val="2369402958"/>
                    </a:ext>
                  </a:extLst>
                </a:gridCol>
                <a:gridCol w="2167467">
                  <a:extLst>
                    <a:ext uri="{9D8B030D-6E8A-4147-A177-3AD203B41FA5}">
                      <a16:colId xmlns:a16="http://schemas.microsoft.com/office/drawing/2014/main" val="3372626929"/>
                    </a:ext>
                  </a:extLst>
                </a:gridCol>
              </a:tblGrid>
              <a:tr h="4867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Компетенции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Дескриптор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освоения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Форма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контроля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Вид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КИМ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9535136"/>
                  </a:ext>
                </a:extLst>
              </a:tr>
              <a:tr h="14823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4.</a:t>
                      </a: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Управление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сроками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проекта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Осуществляет ведение проекта в области ИИ, планирование и контроль задач, оценку ресурсов. Подбирает методологию (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CRISP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DM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, 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CRISP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ML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Q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)) и организует процесс разработки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Практическое задание; лабораторная работа (сетевой график, диаграмма </a:t>
                      </a:r>
                      <a:r>
                        <a:rPr lang="ru-RU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Ганта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1343612"/>
                  </a:ext>
                </a:extLst>
              </a:tr>
              <a:tr h="14823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5.</a:t>
                      </a: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Управление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стоимостью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проекта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LC-7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Знает ключевые технико-экономические показатели внедрения ИИ. Строит расчётные модели для оценки технико-экономических показателей ИИ и применяет их для прогнозирования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6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Практическое задание (бюджет по методике освоенного объёма)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3325990"/>
                  </a:ext>
                </a:extLst>
              </a:tr>
              <a:tr h="13974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6.</a:t>
                      </a: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Управление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качеством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проекта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Подбирает методологию разработки системы ИИ. Организует процесс контроля качества 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AI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-продукта, применяет инструменты </a:t>
                      </a:r>
                      <a:r>
                        <a:rPr lang="ru-RU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приоритизации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дефектов и метрики качества 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ML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-моделей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Рубежный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;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Коллоквиум / лабораторная работа (план управления качеством)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0830653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263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07" y="467261"/>
            <a:ext cx="10515600" cy="973902"/>
          </a:xfrm>
        </p:spPr>
        <p:txBody>
          <a:bodyPr/>
          <a:lstStyle/>
          <a:p>
            <a:r>
              <a:rPr lang="ru-RU" dirty="0"/>
              <a:t>Система оценки результатов обучения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56167E85-D08C-4215-AB7F-0F4CA8272C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9421441"/>
              </p:ext>
            </p:extLst>
          </p:nvPr>
        </p:nvGraphicFramePr>
        <p:xfrm>
          <a:off x="138542" y="1228164"/>
          <a:ext cx="11684000" cy="4699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7787">
                  <a:extLst>
                    <a:ext uri="{9D8B030D-6E8A-4147-A177-3AD203B41FA5}">
                      <a16:colId xmlns:a16="http://schemas.microsoft.com/office/drawing/2014/main" val="4274810821"/>
                    </a:ext>
                  </a:extLst>
                </a:gridCol>
                <a:gridCol w="1001146">
                  <a:extLst>
                    <a:ext uri="{9D8B030D-6E8A-4147-A177-3AD203B41FA5}">
                      <a16:colId xmlns:a16="http://schemas.microsoft.com/office/drawing/2014/main" val="2771864243"/>
                    </a:ext>
                  </a:extLst>
                </a:gridCol>
                <a:gridCol w="4226361">
                  <a:extLst>
                    <a:ext uri="{9D8B030D-6E8A-4147-A177-3AD203B41FA5}">
                      <a16:colId xmlns:a16="http://schemas.microsoft.com/office/drawing/2014/main" val="2765135530"/>
                    </a:ext>
                  </a:extLst>
                </a:gridCol>
                <a:gridCol w="1717239">
                  <a:extLst>
                    <a:ext uri="{9D8B030D-6E8A-4147-A177-3AD203B41FA5}">
                      <a16:colId xmlns:a16="http://schemas.microsoft.com/office/drawing/2014/main" val="2369402958"/>
                    </a:ext>
                  </a:extLst>
                </a:gridCol>
                <a:gridCol w="2421467">
                  <a:extLst>
                    <a:ext uri="{9D8B030D-6E8A-4147-A177-3AD203B41FA5}">
                      <a16:colId xmlns:a16="http://schemas.microsoft.com/office/drawing/2014/main" val="3372626929"/>
                    </a:ext>
                  </a:extLst>
                </a:gridCol>
              </a:tblGrid>
              <a:tr h="39217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Компетенции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Дескриптор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освоения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Форма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контроля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Вид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КИМ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9535136"/>
                  </a:ext>
                </a:extLst>
              </a:tr>
              <a:tr h="12407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 7. 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Управление рисками и взаимодействием в проекте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LC-7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Знает ключевые риски внедрения ИИ. Строит расчётные оценки экономического ущерба и разрабатывает модели экономических эффектов внедрения ИИ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6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Практическое задание; лабораторная работа (реестр рисков </a:t>
                      </a:r>
                      <a:r>
                        <a:rPr lang="en-US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TOP</a:t>
                      </a:r>
                      <a:r>
                        <a:rPr lang="ru-RU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-10)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1343612"/>
                  </a:ext>
                </a:extLst>
              </a:tr>
              <a:tr h="1075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 8.</a:t>
                      </a:r>
                      <a:b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</a:b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Управление проектами в сфере искусственного интеллекта: методы, подходы, инструментарий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  <a:endParaRPr lang="ru-RU" sz="16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Организует процесс разработки системы ИИ по гибкой методологии. Подбирает методологию управления ИИ-проектом и практически реализует её. Демонстрирует эффективное владение инструментами коммуникаций, проектного управления и контроля изменений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Рубежный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;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Коллоквиум / решение практического кейса; лабораторная работа (спринт, ретроспектива)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3325990"/>
                  </a:ext>
                </a:extLst>
              </a:tr>
              <a:tr h="59294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Промежуточная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аттестация</a:t>
                      </a:r>
                      <a:endParaRPr lang="ru-RU" sz="1600" b="1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LC-1, LC-4, LC-7, SS-2</a:t>
                      </a:r>
                      <a:endParaRPr lang="ru-RU" sz="16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Итоговая проверка сформированности компетенций дисциплины на уровне «средний»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Промежуточный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Билеты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+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практико-ориентированное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задание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3745303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55B3CF7-60C2-4C94-8FBC-BC4930BE4772}"/>
              </a:ext>
            </a:extLst>
          </p:cNvPr>
          <p:cNvSpPr txBox="1">
            <a:spLocks/>
          </p:cNvSpPr>
          <p:nvPr/>
        </p:nvSpPr>
        <p:spPr>
          <a:xfrm>
            <a:off x="0" y="5701273"/>
            <a:ext cx="10515600" cy="9739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Golos Text DemiBold" panose="020B0503020202020204" pitchFamily="34" charset="0"/>
                <a:cs typeface="+mj-cs"/>
              </a:defRPr>
            </a:lvl1pPr>
          </a:lstStyle>
          <a:p>
            <a:r>
              <a:rPr lang="ru-RU" sz="3200" dirty="0"/>
              <a:t>Сквозной характер лабораторных работ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261EE71-92CE-4519-AB73-D0AFB0950EBE}"/>
              </a:ext>
            </a:extLst>
          </p:cNvPr>
          <p:cNvSpPr/>
          <p:nvPr/>
        </p:nvSpPr>
        <p:spPr>
          <a:xfrm>
            <a:off x="96911" y="6400070"/>
            <a:ext cx="11998175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2000" dirty="0">
                <a:latin typeface="Aptos" panose="02110004020202020204"/>
              </a:rPr>
              <a:t>Пакет п</a:t>
            </a:r>
            <a:r>
              <a:rPr lang="en-US" sz="2000" dirty="0" err="1">
                <a:latin typeface="Aptos" panose="02110004020202020204"/>
              </a:rPr>
              <a:t>роект</a:t>
            </a:r>
            <a:r>
              <a:rPr lang="ru-RU" sz="2000" dirty="0">
                <a:latin typeface="Aptos" panose="02110004020202020204"/>
              </a:rPr>
              <a:t>а</a:t>
            </a:r>
            <a:r>
              <a:rPr lang="en-US" sz="2000" dirty="0">
                <a:latin typeface="Aptos" panose="02110004020202020204"/>
              </a:rPr>
              <a:t> </a:t>
            </a:r>
            <a:r>
              <a:rPr lang="en-US" sz="2000" dirty="0" err="1">
                <a:latin typeface="Aptos" panose="02110004020202020204"/>
              </a:rPr>
              <a:t>формируется</a:t>
            </a:r>
            <a:r>
              <a:rPr lang="en-US" sz="2000" dirty="0">
                <a:latin typeface="Aptos" panose="02110004020202020204"/>
              </a:rPr>
              <a:t> </a:t>
            </a:r>
            <a:r>
              <a:rPr lang="en-US" sz="2000" dirty="0" err="1">
                <a:latin typeface="Aptos" panose="02110004020202020204"/>
              </a:rPr>
              <a:t>накопительно</a:t>
            </a:r>
            <a:r>
              <a:rPr lang="en-US" sz="2000" dirty="0">
                <a:latin typeface="Aptos" panose="02110004020202020204"/>
              </a:rPr>
              <a:t> и </a:t>
            </a:r>
            <a:r>
              <a:rPr lang="en-US" sz="2000" dirty="0" err="1">
                <a:latin typeface="Aptos" panose="02110004020202020204"/>
              </a:rPr>
              <a:t>служит</a:t>
            </a:r>
            <a:r>
              <a:rPr lang="en-US" sz="2000" dirty="0">
                <a:latin typeface="Aptos" panose="02110004020202020204"/>
              </a:rPr>
              <a:t> </a:t>
            </a:r>
            <a:r>
              <a:rPr lang="en-US" sz="2000" dirty="0" err="1">
                <a:latin typeface="Aptos" panose="02110004020202020204"/>
              </a:rPr>
              <a:t>интегральным</a:t>
            </a:r>
            <a:r>
              <a:rPr lang="en-US" sz="2000" dirty="0">
                <a:latin typeface="Aptos" panose="02110004020202020204"/>
              </a:rPr>
              <a:t> </a:t>
            </a:r>
            <a:r>
              <a:rPr lang="en-US" sz="2000" dirty="0" err="1">
                <a:latin typeface="Aptos" panose="02110004020202020204"/>
              </a:rPr>
              <a:t>результатом</a:t>
            </a:r>
            <a:r>
              <a:rPr lang="en-US" sz="2000" dirty="0">
                <a:latin typeface="Aptos" panose="02110004020202020204"/>
              </a:rPr>
              <a:t> </a:t>
            </a:r>
            <a:r>
              <a:rPr lang="en-US" sz="2000" dirty="0" err="1">
                <a:latin typeface="Aptos" panose="02110004020202020204"/>
              </a:rPr>
              <a:t>освоения</a:t>
            </a:r>
            <a:r>
              <a:rPr lang="en-US" sz="2000" dirty="0">
                <a:latin typeface="Aptos" panose="02110004020202020204"/>
              </a:rPr>
              <a:t> </a:t>
            </a:r>
            <a:r>
              <a:rPr lang="en-US" sz="2000" dirty="0" err="1">
                <a:latin typeface="Aptos" panose="02110004020202020204"/>
              </a:rPr>
              <a:t>дисциплины</a:t>
            </a:r>
            <a:endParaRPr lang="ru-RU" sz="2000" dirty="0"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224106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42" y="863861"/>
            <a:ext cx="10515600" cy="973902"/>
          </a:xfrm>
        </p:spPr>
        <p:txBody>
          <a:bodyPr/>
          <a:lstStyle/>
          <a:p>
            <a:r>
              <a:rPr lang="ru-RU" dirty="0"/>
              <a:t>Сквозной характер лабораторных работ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5DA96E-7CDA-4D86-A023-A88008244449}"/>
              </a:ext>
            </a:extLst>
          </p:cNvPr>
          <p:cNvSpPr/>
          <p:nvPr/>
        </p:nvSpPr>
        <p:spPr>
          <a:xfrm>
            <a:off x="4573820" y="3244334"/>
            <a:ext cx="3044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Сквозной</a:t>
            </a:r>
            <a:r>
              <a:rPr lang="en-US" dirty="0"/>
              <a:t> </a:t>
            </a:r>
            <a:r>
              <a:rPr lang="en-US" dirty="0" err="1"/>
              <a:t>командный</a:t>
            </a:r>
            <a:r>
              <a:rPr lang="en-US" dirty="0"/>
              <a:t> </a:t>
            </a:r>
            <a:r>
              <a:rPr lang="en-US" dirty="0" err="1"/>
              <a:t>проект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115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D3C52-D36E-B5D8-1B74-D1C2DD626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D49AB9E-48D7-E2B7-2537-BD7A755A5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6173"/>
            <a:ext cx="848531" cy="19355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14C6743-F301-E900-1780-71324529E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175" y="1531743"/>
            <a:ext cx="3950825" cy="554262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A99AA-9194-4CB0-7B95-EC429B313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443" y="1867175"/>
            <a:ext cx="9144000" cy="1714723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>
                <a:solidFill>
                  <a:srgbClr val="014189"/>
                </a:solidFill>
              </a:rPr>
              <a:t>Спасибо</a:t>
            </a:r>
            <a:br>
              <a:rPr lang="ru-RU" dirty="0">
                <a:solidFill>
                  <a:srgbClr val="014189"/>
                </a:solidFill>
              </a:rPr>
            </a:br>
            <a:r>
              <a:rPr lang="ru-RU" dirty="0">
                <a:solidFill>
                  <a:srgbClr val="014189"/>
                </a:solidFill>
              </a:rPr>
              <a:t>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EB930A-16BD-7DC1-CCCA-29C950911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443" y="3822096"/>
            <a:ext cx="9144000" cy="658857"/>
          </a:xfrm>
        </p:spPr>
        <p:txBody>
          <a:bodyPr>
            <a:normAutofit/>
          </a:bodyPr>
          <a:lstStyle/>
          <a:p>
            <a:pPr algn="l"/>
            <a:r>
              <a:rPr lang="ru-RU" sz="2000" dirty="0">
                <a:solidFill>
                  <a:srgbClr val="014189"/>
                </a:solidFill>
              </a:rPr>
              <a:t>Группа №40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57B91C-B786-81AC-ADAC-261E92165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43" y="386289"/>
            <a:ext cx="5322298" cy="3298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46CD3E4-EC7E-D110-993A-6658A5C51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3323" y="391785"/>
            <a:ext cx="1692234" cy="32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058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3136</Words>
  <Application>Microsoft Office PowerPoint</Application>
  <PresentationFormat>Широкоэкранный</PresentationFormat>
  <Paragraphs>608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Aptos</vt:lpstr>
      <vt:lpstr>Arial</vt:lpstr>
      <vt:lpstr>Golos Text</vt:lpstr>
      <vt:lpstr>Golos Text DemiBold</vt:lpstr>
      <vt:lpstr>Times New Roman</vt:lpstr>
      <vt:lpstr>Тема Office</vt:lpstr>
      <vt:lpstr>Рабочий проект РПД «Управление проектами в сфере ИИ»</vt:lpstr>
      <vt:lpstr>Специфика управления проектами в сфере ИИ</vt:lpstr>
      <vt:lpstr>Цель дисциплины «Управление проектами в сфере ИИ»</vt:lpstr>
      <vt:lpstr>Задачи дисциплины «Управление проектами в сфере ИИ»</vt:lpstr>
      <vt:lpstr>Профильные роли КРМ</vt:lpstr>
      <vt:lpstr>Компетенции и индикаторы по КРМ</vt:lpstr>
      <vt:lpstr>Компетенции и индикаторы по КРМ</vt:lpstr>
      <vt:lpstr>Структура и содержание РПД</vt:lpstr>
      <vt:lpstr>Структура и содержание РПД</vt:lpstr>
      <vt:lpstr>Структура и содержание РПД</vt:lpstr>
      <vt:lpstr>Структура и содержание РПД</vt:lpstr>
      <vt:lpstr>Структура и содержание РПД</vt:lpstr>
      <vt:lpstr>Структура и содержание РПД</vt:lpstr>
      <vt:lpstr>Структура и содержание РПД</vt:lpstr>
      <vt:lpstr>Структура и содержание РПД</vt:lpstr>
      <vt:lpstr>Структура и содержание РПД</vt:lpstr>
      <vt:lpstr>Место дисциплины «Управление проектами в сфере ИИ» в учебном плане</vt:lpstr>
      <vt:lpstr>Пререквизиты</vt:lpstr>
      <vt:lpstr>Постреквизиты</vt:lpstr>
      <vt:lpstr>Система оценки результатов обучения</vt:lpstr>
      <vt:lpstr>Система оценки результатов обучения</vt:lpstr>
      <vt:lpstr>Система оценки результатов обучения</vt:lpstr>
      <vt:lpstr>Сквозной характер лабораторных работ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Рабочий проект РПД «Управление проектами в сфере ИИ»</dc:title>
  <dc:creator>Будуева Ольга Олеговна</dc:creator>
  <cp:lastModifiedBy>An</cp:lastModifiedBy>
  <cp:revision>42</cp:revision>
  <dcterms:created xsi:type="dcterms:W3CDTF">2026-06-15T11:15:35Z</dcterms:created>
  <dcterms:modified xsi:type="dcterms:W3CDTF">2026-07-15T03:37:55Z</dcterms:modified>
</cp:coreProperties>
</file>