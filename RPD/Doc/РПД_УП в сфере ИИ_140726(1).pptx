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57" r:id="rId4"/>
    <p:sldId id="258" r:id="rId5"/>
    <p:sldId id="263" r:id="rId6"/>
    <p:sldId id="264" r:id="rId7"/>
    <p:sldId id="267" r:id="rId8"/>
    <p:sldId id="278" r:id="rId9"/>
    <p:sldId id="280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68" r:id="rId18"/>
    <p:sldId id="266" r:id="rId19"/>
    <p:sldId id="272" r:id="rId20"/>
    <p:sldId id="273" r:id="rId21"/>
    <p:sldId id="276" r:id="rId22"/>
    <p:sldId id="277" r:id="rId23"/>
    <p:sldId id="26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14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32"/>
  </p:normalViewPr>
  <p:slideViewPr>
    <p:cSldViewPr snapToGrid="0">
      <p:cViewPr varScale="1">
        <p:scale>
          <a:sx n="71" d="100"/>
          <a:sy n="71" d="100"/>
        </p:scale>
        <p:origin x="3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14D75-7094-767C-F696-163DA06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olos Text" panose="020B0503020202020204" pitchFamily="34" charset="0"/>
                <a:ea typeface="Golos Text" panose="020B0503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704547-04D0-4D38-DB77-B43D52ABB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24416-E8F9-61EF-E6D1-BC2B4BAD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AA014-56BF-40CB-39F2-DC33F3A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8BC4B-DA57-1DC8-6D9D-53969507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3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11257-CAF6-47B5-D2A5-6F48CB2F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04584-D55D-5002-3CFB-92ECEBCB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E326A-0D2A-7537-95A3-F838AF0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F1308-8060-D862-3F8E-C9209A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2E7770-AC08-478A-2DFC-52CA9BC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B72F2-D5B8-B308-E7BA-AA2D2C0E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9E6FA-8BED-62C4-EA10-DFDD2C17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879B11-A705-E38C-760B-49584E60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B70AE-75DF-8572-5095-F5DCD3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ACFDE-55D1-781E-AC17-12F8511B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6F225-3DC8-CCAA-3314-17B0B981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60A77-1953-B756-F038-C2AD0481D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C4E49E-93B8-3A24-2205-E54E59C36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8382C-B13D-FC98-5410-E562E82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C28D2-B037-A94E-1A85-76995C9F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7B33AD-36F7-1833-97AA-C005F72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3EFB5-579F-BE0B-166C-50426ED7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83B45-78DE-0567-0995-1A1C751C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D1D42A-C580-082A-A23E-0DD0CB0D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575B3-47F7-7043-1A19-2CADAAA5A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853BBA-EB99-E6BB-45E2-225CC5E8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4AD746-157B-488B-A4A4-B12DD945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FA9D4-4769-94B0-4630-BB70AD74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310FFB-2D2C-0B90-4ED6-F54BE2F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671BE-F29D-7143-B2C0-E41BFD68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B13310-D4EB-4448-E040-D406C2B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22AFDA-E23B-F6DC-0074-86E45035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43832A-200E-F2C9-2D80-B185CF13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63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98E6E3-17C8-654A-2ED8-A2DBD94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972E5A-A91E-F858-AAC8-6831E0D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3696D1-D4AF-3353-A158-31EF3C3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38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FD9AD-84DC-EAF1-4A37-28B053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92A09D-B4BE-6AD7-26D0-490F3B09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42F5F4-3B1B-A795-36FE-C6B5DBBB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7D14E4-61DE-FBE9-79AC-AF0981C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8B01F-825D-1209-3206-3ED34A2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E1DCBD-DCDB-9BE6-A14D-41FA544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EC7E9-28C4-918A-5FBE-2F6FA85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A22047-5CE4-09F7-7296-126A8988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8CFEB5-6122-7E07-B156-6DEC0F79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136853-2C93-9518-7229-5FAF7CB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2FCEA4-DC7F-6683-C79D-DCB5416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55E2CF-EAC4-6261-EAF3-7A33BA8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986E0-902E-3707-6F09-5208A5A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8853C4-83F9-00EB-13F2-004171E0C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02B9AD-F7CC-DC3E-D98C-E2CBB6A6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35AED8-859D-C7BA-D8B4-3C052B25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D5590-FA44-FA25-32A7-187D79A3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A6162F-0CEA-89D5-C5BC-AFAF0D665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20F03-9C3B-1511-C6F4-0174F667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DA9F2B-975E-9F5A-EB9C-1CBFBA4F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6239FE-BEE0-7F3E-DDFD-331E63DB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2CFCA3-4959-96FA-D1A1-32AE64E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B8F61-F8FD-2E11-52B5-535412FA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7468CD-D4E7-208A-1469-156E1DA0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493BCF-6C7A-9183-FCD5-EF960E89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A3099-0E2E-404F-AC88-0DAC237DA2CA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317AE4-1A8E-3EF8-C946-B3600AF0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697FD-5E73-4CFC-DCA4-B7A93353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olos Text DemiBold" panose="020B0503020202020204" pitchFamily="34" charset="0"/>
          <a:ea typeface="Golos Text DemiBold" panose="020B05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3A7DE-9454-3205-A880-5CE67D6E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430"/>
            <a:ext cx="848531" cy="193553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6E39A8-88E6-3DA1-B9A7-9D4886DCD160}"/>
              </a:ext>
            </a:extLst>
          </p:cNvPr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4D7EF9-463E-3F60-540D-9EF95177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27" y="1362850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C655D-C2BD-9061-29D1-33ABB82E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953" y="4052621"/>
            <a:ext cx="9144000" cy="1304678"/>
          </a:xfrm>
        </p:spPr>
        <p:txBody>
          <a:bodyPr>
            <a:normAutofit fontScale="90000"/>
          </a:bodyPr>
          <a:lstStyle/>
          <a:p>
            <a:pPr algn="l"/>
            <a:r>
              <a:rPr lang="ru-RU" sz="4800" dirty="0">
                <a:solidFill>
                  <a:schemeClr val="bg1"/>
                </a:solidFill>
              </a:rPr>
              <a:t>Рабочий проект РПД</a:t>
            </a:r>
            <a:br>
              <a:rPr lang="ru-RU" sz="4800" dirty="0">
                <a:solidFill>
                  <a:schemeClr val="bg1"/>
                </a:solidFill>
              </a:rPr>
            </a:br>
            <a:r>
              <a:rPr lang="ru-RU" sz="4800" dirty="0">
                <a:solidFill>
                  <a:schemeClr val="bg1"/>
                </a:solidFill>
              </a:rPr>
              <a:t>«Управление проектами в сфере ИИ»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284915-241E-8EE1-802E-3993741D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5305753"/>
            <a:ext cx="9144000" cy="1469985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bg1"/>
                </a:solidFill>
              </a:rPr>
              <a:t>Борзин</a:t>
            </a:r>
            <a:r>
              <a:rPr lang="ru-RU" dirty="0">
                <a:solidFill>
                  <a:schemeClr val="bg1"/>
                </a:solidFill>
              </a:rPr>
              <a:t> Роман Юрьевич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bg1"/>
                </a:solidFill>
              </a:rPr>
              <a:t>Душкина</a:t>
            </a:r>
            <a:r>
              <a:rPr lang="ru-RU" dirty="0">
                <a:solidFill>
                  <a:schemeClr val="bg1"/>
                </a:solidFill>
              </a:rPr>
              <a:t> Елена Николаевна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solidFill>
                  <a:schemeClr val="bg1"/>
                </a:solidFill>
              </a:rPr>
              <a:t>Исупова Наталья Ивановна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bg1"/>
                </a:solidFill>
              </a:rPr>
              <a:t>Крошилина</a:t>
            </a:r>
            <a:r>
              <a:rPr lang="ru-RU" dirty="0">
                <a:solidFill>
                  <a:schemeClr val="bg1"/>
                </a:solidFill>
              </a:rPr>
              <a:t> Светлана Владимировна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solidFill>
                  <a:schemeClr val="bg1"/>
                </a:solidFill>
              </a:rPr>
              <a:t>Кошелев Антон Александрович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455776-F093-4AF3-E008-4E649B75E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84394D-C7A5-E8B6-4037-C5DF0775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D2CF0753-6B81-2CC5-533F-5F048D407D72}"/>
              </a:ext>
            </a:extLst>
          </p:cNvPr>
          <p:cNvSpPr txBox="1">
            <a:spLocks/>
          </p:cNvSpPr>
          <p:nvPr/>
        </p:nvSpPr>
        <p:spPr>
          <a:xfrm>
            <a:off x="676443" y="3010968"/>
            <a:ext cx="9144000" cy="90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</a:t>
            </a:r>
            <a:b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на топ-уровне: системное видение</a:t>
            </a:r>
            <a:endParaRPr lang="ru-RU" b="1" dirty="0">
              <a:solidFill>
                <a:srgbClr val="014189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4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874" y="641601"/>
            <a:ext cx="11022108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Специфика управления проектами в сфере ИИ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4A5DB7-4F55-4262-984A-592D38384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18" y="1841123"/>
            <a:ext cx="10858982" cy="45865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051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Цель дисциплины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/>
              <a:t>«Управление проектами в сфере ИИ»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701734"/>
            <a:ext cx="10515600" cy="372313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</a:t>
            </a:r>
            <a:r>
              <a:rPr lang="en-US" dirty="0" err="1"/>
              <a:t>формировать</a:t>
            </a:r>
            <a:r>
              <a:rPr lang="en-US" dirty="0"/>
              <a:t> у </a:t>
            </a:r>
            <a:r>
              <a:rPr lang="en-US" dirty="0" err="1"/>
              <a:t>студентов</a:t>
            </a:r>
            <a:r>
              <a:rPr lang="en-US" dirty="0"/>
              <a:t> </a:t>
            </a:r>
            <a:r>
              <a:rPr lang="en-US" dirty="0" err="1"/>
              <a:t>компетенции</a:t>
            </a:r>
            <a:r>
              <a:rPr lang="en-US" dirty="0"/>
              <a:t> в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проектов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разработке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искусственного</a:t>
            </a:r>
            <a:r>
              <a:rPr lang="en-US" dirty="0"/>
              <a:t> </a:t>
            </a:r>
            <a:r>
              <a:rPr lang="en-US" dirty="0" err="1"/>
              <a:t>интеллекта</a:t>
            </a:r>
            <a:r>
              <a:rPr lang="en-US" dirty="0"/>
              <a:t>, </a:t>
            </a:r>
            <a:r>
              <a:rPr lang="en-US" dirty="0" err="1"/>
              <a:t>позволяющие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, </a:t>
            </a:r>
            <a:r>
              <a:rPr lang="en-US" dirty="0" err="1"/>
              <a:t>планировать</a:t>
            </a:r>
            <a:r>
              <a:rPr lang="en-US" dirty="0"/>
              <a:t>, </a:t>
            </a:r>
            <a:r>
              <a:rPr lang="en-US" dirty="0" err="1"/>
              <a:t>сопровождать</a:t>
            </a:r>
            <a:r>
              <a:rPr lang="en-US" dirty="0"/>
              <a:t> и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ИИ-</a:t>
            </a:r>
            <a:r>
              <a:rPr lang="en-US" dirty="0" err="1"/>
              <a:t>проектов</a:t>
            </a:r>
            <a:r>
              <a:rPr lang="en-US" dirty="0"/>
              <a:t>, </a:t>
            </a:r>
            <a:r>
              <a:rPr lang="en-US" dirty="0" err="1"/>
              <a:t>формировать</a:t>
            </a:r>
            <a:r>
              <a:rPr lang="en-US" dirty="0"/>
              <a:t> и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работой</a:t>
            </a:r>
            <a:r>
              <a:rPr lang="en-US" dirty="0"/>
              <a:t> </a:t>
            </a:r>
            <a:r>
              <a:rPr lang="en-US" dirty="0" err="1"/>
              <a:t>проектной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ru-RU" dirty="0"/>
              <a:t>, а также применять современные ИИ-инструменты для повышения эффективности управленческих процессов и оптимизации проектной деятельности.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75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Задачи дисциплины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«Управление проектами в сфере ИИ»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9AADBFA8-E093-0533-CD21-19F4ECA7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3710"/>
            <a:ext cx="10400141" cy="4113253"/>
          </a:xfrm>
        </p:spPr>
        <p:txBody>
          <a:bodyPr>
            <a:normAutofit fontScale="70000" lnSpcReduction="20000"/>
          </a:bodyPr>
          <a:lstStyle/>
          <a:p>
            <a:r>
              <a:rPr lang="ru-RU" sz="2900" dirty="0"/>
              <a:t>освоить ключевые принципы и методы оптимального выбора и применения  методологий управления проектами разработки программного обеспечения и систем ИИ, включая классические и гибкие подходы, а также стандарты управления проектами, применительно к специфике ИИ-разработки;</a:t>
            </a:r>
          </a:p>
          <a:p>
            <a:r>
              <a:rPr lang="ru-RU" sz="2900" dirty="0"/>
              <a:t>сформировать практические навыки применения инструментов проектного планирования (WBS, диаграмма </a:t>
            </a:r>
            <a:r>
              <a:rPr lang="ru-RU" sz="2900" dirty="0" err="1"/>
              <a:t>Ганта</a:t>
            </a:r>
            <a:r>
              <a:rPr lang="ru-RU" sz="2900" dirty="0"/>
              <a:t>, </a:t>
            </a:r>
            <a:r>
              <a:rPr lang="ru-RU" sz="2900" dirty="0" err="1"/>
              <a:t>канбан</a:t>
            </a:r>
            <a:r>
              <a:rPr lang="ru-RU" sz="2900" dirty="0"/>
              <a:t>-доски, RACI) и управления требованиями для организации работы проектной команды;</a:t>
            </a:r>
          </a:p>
          <a:p>
            <a:r>
              <a:rPr lang="ru-RU" sz="2900" dirty="0"/>
              <a:t>научить обосновывать технико-экономическую целесообразность проектных решений, оценивать трудоёмкость, сроки и стоимость проектных задач с учётом исследовательской составляющей и итеративности этапов, связанных с созданием компонентов ИИ;</a:t>
            </a:r>
          </a:p>
          <a:p>
            <a:r>
              <a:rPr lang="ru-RU" sz="2900" dirty="0"/>
              <a:t>развить умение идентифицировать и управлять рисками ИТ- и ИИ-проектов, в том числе связанными, с неопределённостью требований и технической реализацией алгоритмов машинного обучения, а также обусловленными информационной безопасностью;</a:t>
            </a:r>
          </a:p>
          <a:p>
            <a:r>
              <a:rPr lang="ru-RU" sz="2900" dirty="0"/>
              <a:t>сформировать навыки эффективного формирования и управления работой проектной команды с учётом жизненного цикла проекта, зон ответственности и принципов коммуникации между разработчиками, аналитиками данных и заказчиком.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04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Профильные роли КРМ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8958993-B6C5-44FB-964E-5B2F56CD0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211486"/>
              </p:ext>
            </p:extLst>
          </p:nvPr>
        </p:nvGraphicFramePr>
        <p:xfrm>
          <a:off x="838200" y="2454275"/>
          <a:ext cx="10515600" cy="3497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74022224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4186028932"/>
                    </a:ext>
                  </a:extLst>
                </a:gridCol>
                <a:gridCol w="4885267">
                  <a:extLst>
                    <a:ext uri="{9D8B030D-6E8A-4147-A177-3AD203B41FA5}">
                      <a16:colId xmlns:a16="http://schemas.microsoft.com/office/drawing/2014/main" val="2339980908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Роль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Статус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Функция в дисциплине и проекте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904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PM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(Менеджер проектов ИИ)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основная</a:t>
                      </a:r>
                      <a:endParaRPr lang="ru-RU" sz="18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процессами создания ИИ-решений, координация команды разработки, планирование ресурсов, контроль сроков и оценка эффективности проекта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359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CDO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(Руководитель цифровой трансформации)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поддерживающая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проектирование новых путей формирования ценности в организации посредством применения ИИ, стратегическое планирование, управление изменениями и формирование портфеля ИИ-проектов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068364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0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727880"/>
            <a:ext cx="10515600" cy="906169"/>
          </a:xfrm>
        </p:spPr>
        <p:txBody>
          <a:bodyPr/>
          <a:lstStyle/>
          <a:p>
            <a:r>
              <a:rPr lang="ru-RU" dirty="0"/>
              <a:t>Компетенции и индикаторы по КРМ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79B7C46-D1EB-4968-A04F-45FC3730D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100377"/>
              </p:ext>
            </p:extLst>
          </p:nvPr>
        </p:nvGraphicFramePr>
        <p:xfrm>
          <a:off x="722741" y="1603430"/>
          <a:ext cx="11096724" cy="5071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908">
                  <a:extLst>
                    <a:ext uri="{9D8B030D-6E8A-4147-A177-3AD203B41FA5}">
                      <a16:colId xmlns:a16="http://schemas.microsoft.com/office/drawing/2014/main" val="2662292454"/>
                    </a:ext>
                  </a:extLst>
                </a:gridCol>
                <a:gridCol w="3698908">
                  <a:extLst>
                    <a:ext uri="{9D8B030D-6E8A-4147-A177-3AD203B41FA5}">
                      <a16:colId xmlns:a16="http://schemas.microsoft.com/office/drawing/2014/main" val="3606448271"/>
                    </a:ext>
                  </a:extLst>
                </a:gridCol>
                <a:gridCol w="3698908">
                  <a:extLst>
                    <a:ext uri="{9D8B030D-6E8A-4147-A177-3AD203B41FA5}">
                      <a16:colId xmlns:a16="http://schemas.microsoft.com/office/drawing/2014/main" val="1821919591"/>
                    </a:ext>
                  </a:extLst>
                </a:gridCol>
              </a:tblGrid>
              <a:tr h="8985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Код и направление компетенции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Индикаторы компетенции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Использование</a:t>
                      </a: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дисциплине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174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Понимание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бизнес-проблемы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-1.1.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Формализует бизнес-цели и вырабатывает под них стратегии внедрения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Выбирает оптимальные технологии под конкретные требования проекта внедрения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-1.3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Готовит и ведет документы для реализации проектов в области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анализ требований, постановка целей проекта, определение содержания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-проекта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624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-4.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процессами жизненного цикла ИИ-продукта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Осуществляет запуск и ведение проекта в области ИИ, в том числе планирование и контроль задач, оценку ресурсов.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Координирует и контролирует работу команд проекта с целью достижения общих целей проекта.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 проекта, организация команды, управление сроками, коммуникациями и выбором методологии управления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119198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11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727880"/>
            <a:ext cx="10515600" cy="906169"/>
          </a:xfrm>
        </p:spPr>
        <p:txBody>
          <a:bodyPr/>
          <a:lstStyle/>
          <a:p>
            <a:r>
              <a:rPr lang="ru-RU" dirty="0"/>
              <a:t>Компетенции и индикаторы по КРМ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79B7C46-D1EB-4968-A04F-45FC3730D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12122"/>
              </p:ext>
            </p:extLst>
          </p:nvPr>
        </p:nvGraphicFramePr>
        <p:xfrm>
          <a:off x="722741" y="1603430"/>
          <a:ext cx="11096724" cy="5071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926">
                  <a:extLst>
                    <a:ext uri="{9D8B030D-6E8A-4147-A177-3AD203B41FA5}">
                      <a16:colId xmlns:a16="http://schemas.microsoft.com/office/drawing/2014/main" val="2662292454"/>
                    </a:ext>
                  </a:extLst>
                </a:gridCol>
                <a:gridCol w="5723466">
                  <a:extLst>
                    <a:ext uri="{9D8B030D-6E8A-4147-A177-3AD203B41FA5}">
                      <a16:colId xmlns:a16="http://schemas.microsoft.com/office/drawing/2014/main" val="3606448271"/>
                    </a:ext>
                  </a:extLst>
                </a:gridCol>
                <a:gridCol w="2963332">
                  <a:extLst>
                    <a:ext uri="{9D8B030D-6E8A-4147-A177-3AD203B41FA5}">
                      <a16:colId xmlns:a16="http://schemas.microsoft.com/office/drawing/2014/main" val="1821919591"/>
                    </a:ext>
                  </a:extLst>
                </a:gridCol>
              </a:tblGrid>
              <a:tr h="8985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Код и направление компетенции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Индикаторы компетенции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Использование</a:t>
                      </a: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дисциплине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174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-7.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Экономика ИИ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Обосновывает достижимость технико-экономических показателей ИИ за счет внедрения различных методических и технологических решений.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LC-7.3.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Оценивает риски внедрения ИИ, прогнозирует связанный с ними ущерб и дает оценку экономической эффективности на основе риск-аппетитов.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бюджетирование, оценка стоимости проекта, экономическая эффективность и управление рисками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624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Командная работа, коммуникации и лидерство в ИИ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Эффективно коммуницирует с участниками проектной команды при планировании, реализации и анализе результатов работы в контексте гибридной команды "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Человек+ИИ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", включая постановку задач людям и ИИ-агентам, фиксацию договорённостей и критериев качества.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Учитывает профессиональные и ролевые особенности коллег и контур ИИ-компонентов: адаптирует язык под аудиторию (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product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level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), распределяет ответственность (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RACI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 и представляет результаты в понятном формате.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распределение ролей, взаимодействие участников проекта и управление коммуникациями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119198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382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163721"/>
              </p:ext>
            </p:extLst>
          </p:nvPr>
        </p:nvGraphicFramePr>
        <p:xfrm>
          <a:off x="304800" y="1795463"/>
          <a:ext cx="11684000" cy="442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622130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b="1" i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1.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Проекты и среда управления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Основы проектного управления; документационное и организационное обеспечение проектов в сфере ИИ; эволюция проектного управления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  <a:b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1.1, 1.3</a:t>
                      </a:r>
                      <a:b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2.1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Б, С</a:t>
                      </a:r>
                      <a:br>
                        <a:rPr lang="en-US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Основы проектного управления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Понятие проекта и продукта, системный подход к управлению проектом, классификация проектов, жизненный цикл проекта, проектное и продуктовое управление, ограничения, особенности проектов в сфере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Документационное и организационное обеспечение проектов в сфере ИИ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Системная модель управления проектом, организационная структура, процессы управления проектами, технико-экономическое обоснование проекта, его структура и содержание, формирование команды проекта, основные роли. 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Проектная документация. План управления проектом. Специфическая документация ИТ-проекта в области ИИ (документация на данные, документация на модели, документация по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MLOps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индустриализации, этический и правовой аудит)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1.1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Эволюция проектного управления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Трансформация проектного менеджмента: от индустриальных стандартов к ИИ-проектам</a:t>
                      </a:r>
                    </a:p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2.1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67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253840"/>
              </p:ext>
            </p:extLst>
          </p:nvPr>
        </p:nvGraphicFramePr>
        <p:xfrm>
          <a:off x="304800" y="1795463"/>
          <a:ext cx="11684000" cy="4579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11763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2.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содержанием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Инструменты целеполагания и декомпозиции в проектах; управление содержанием технологических проектов; разработка устава и содержания AI-проекта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1.1-1.3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Инструменты целеполагания и декомпозиции в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Определение целей и содержания проекта, инструменты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Impact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Customer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Journey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User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Story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MBO, разработка WBS, техника SWOT-анализа, «Шесть сигм»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содержанием технологических проектов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Современные подходы к управлению содержанием сложных технологических проектов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Разработка устава и содержания AI-проекта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устава AI-проекта, анализ стейкхолдеров и требований; применение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Impact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/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User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Story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Mapping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и WBS для определения содержания и границ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361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103466"/>
              </p:ext>
            </p:extLst>
          </p:nvPr>
        </p:nvGraphicFramePr>
        <p:xfrm>
          <a:off x="334296" y="1794934"/>
          <a:ext cx="11684000" cy="4919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581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663380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622130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3.</a:t>
                      </a:r>
                      <a:b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человеческими ресурсами проекта (команда)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Команда проекта: структура, ответственность, конфликты; лидерство и самоорганизация в R&amp;D-командах, кросс-функциональные команды в высокотехнологичных проектах, структура и RACI для AI-команды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9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b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4.2</a:t>
                      </a:r>
                    </a:p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Б,С</a:t>
                      </a:r>
                      <a:b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Команда проекта: структура, ответственность, конфликты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Менеджмент проектов, команда менеджмента проекта, матрица ответственности, стадии существования КМП, управление трудовыми ресурсами, конфликт интересов участников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Лидерство и самоорганизация в R&amp;D-командах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Структура R&amp;D-команды и принципы управления в сложных проектах, этапы развития команды, роль лидера, культура обратной связи, самоуправление и самоорганизующиеся команды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Кросс-функциональные команды в высокотехнологичных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Формирование и развитие кросс-функциональных команд в высокотехнологичных проектах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Структура и RACI для AI-команды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организационной структуры команды AI-проекта, матрица ответственности (RACI), определение ролей и зон ответственности в R&amp;D-команде, планирование коммуникаций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188260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95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408016"/>
              </p:ext>
            </p:extLst>
          </p:nvPr>
        </p:nvGraphicFramePr>
        <p:xfrm>
          <a:off x="304800" y="1795463"/>
          <a:ext cx="11684000" cy="4504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4.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сроками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Календарное планирование и сетевые модели в проектах; управление сроками проекта в условиях неопределённости; сетевое планирование проекта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Календарное планирование и сетевые модели в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Определение состава и взаимосвязей операций проекта, сетевые модели, календарное планирование, расчёт сетевой модели, оптимизация «время 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затраты»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сроками проекта в условиях неопределённости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Оптимизация временных параметров проекта в условиях неопределённости и быстроменяющихся требований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Сетевое планирование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сетевой модели проекта, диаграмма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Ганта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с учётом зависимостей задач, расчёт критического пути и резервов времени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826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365127"/>
              </p:ext>
            </p:extLst>
          </p:nvPr>
        </p:nvGraphicFramePr>
        <p:xfrm>
          <a:off x="304800" y="1795463"/>
          <a:ext cx="11684000" cy="461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5.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стоимостью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Методика освоенного объёма и управление бюджетом; бюджетирование и контроль стоимости в ИИ-проектах; расчёт бюджета проекта через EVM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6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Методика освоенного объёма и управление бюджетом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EVM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: методика освоенного объёма, показатели освоенного объёма, прогнозирование результатов выполнения проекта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Бюджетирование и контроль стоимости в ИИ-проектах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Современные методы бюджетирования и контроля стоимости в инновационных (ИИ-) проектах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Расчёт бюджета проекта через EVM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Расчёт бюджета проекта с использованием методики освоенного объёма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84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575029"/>
              </p:ext>
            </p:extLst>
          </p:nvPr>
        </p:nvGraphicFramePr>
        <p:xfrm>
          <a:off x="304800" y="1795463"/>
          <a:ext cx="11684000" cy="461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65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95596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6.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качеством 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Методы управления качеством в проектах; качество в технологических компаниях: стандарты и практика; план качества и метрики для AI-продукта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Методы управления качеством в проектах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Управление качеством проекта, стандартизация, функционально-стоимостной и функционально-физический анализ, методы определения показателей качества, диаграммы Парето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Качество в технологических компаниях: стандарты и практика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Системы менеджмента качества в технологических компаниях: от стандартов к практике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 качества и метрики для AI-продукта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Разработка плана управления качеством AI-продукта, диаграммы Парето для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приоритизации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задач качества, определение метрик качества ML-моделей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97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40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913543"/>
              </p:ext>
            </p:extLst>
          </p:nvPr>
        </p:nvGraphicFramePr>
        <p:xfrm>
          <a:off x="304800" y="1795463"/>
          <a:ext cx="11684000" cy="4864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652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6312309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7.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рисками и взаимодействием в проекте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Управление рисками и взаимодействие с внешними участниками; коммуникации и стейкхолдеры в сложной проектной среде; управление рисками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AI-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проекта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Б, 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рисками и взаимодействие с внешними участниками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Виды и источники рисков проекта (предприятие, предметная область, ресурсы, техника, рынок, контрагенты, управление), реестр рисков TOP-10, управление проблемами и изменениями, управление взаимодействием с внешними участниками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Коммуникации и стейкхолдеры в сложной проектной среде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Управление стейкхолдерами и коммуникациями в сложных проектных средах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рисками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Идентификация рисков, специфичных для AI-проектов, качественная и количественная оценка рисков, разработка плана реагирования, реестр рисков TOP-10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438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545056"/>
            <a:ext cx="10515600" cy="825794"/>
          </a:xfrm>
        </p:spPr>
        <p:txBody>
          <a:bodyPr/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080281"/>
              </p:ext>
            </p:extLst>
          </p:nvPr>
        </p:nvGraphicFramePr>
        <p:xfrm>
          <a:off x="331694" y="1226092"/>
          <a:ext cx="11684000" cy="5340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992761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12471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8.</a:t>
                      </a:r>
                      <a:b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проектами в сфере искусственного интеллекта: методы, подходы, инструментарий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Гибкие методологии управления проектами в ИИ-контексте; выбор методологии для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AI-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проекта; планирование спринта и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Scrum-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церемонии</a:t>
                      </a: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; инструментальная 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среда проектного менеджмента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С, П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68589460"/>
                  </a:ext>
                </a:extLst>
              </a:tr>
              <a:tr h="668907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Гибкие методологии управления проектами в ИИ-контексте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Выбор оптимальной методологии управления проектом на основе модели C</a:t>
                      </a:r>
                      <a:r>
                        <a:rPr lang="en-US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ynefin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. Гибкие методы управления проектами: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Agile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практики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XP; адаптация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Lean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и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Agile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 к проектам в сфере ИИ на примере </a:t>
                      </a:r>
                      <a:r>
                        <a:rPr lang="en-US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Lean DS</a:t>
                      </a: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8523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Выбор методологии для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Сравнительный анализ и выбор методологии управления AI-проектом под ограничения задачи и ресурсное обеспечение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 спринта и 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Scrum-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церемонии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Организация рабочего процесса по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Scrum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планирование спринта, ежедневные </a:t>
                      </a:r>
                      <a:r>
                        <a:rPr lang="ru-RU" sz="14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стендапы</a:t>
                      </a: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, ретроспектива по итогам спринта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Лаб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П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Инструментальная среда проектного менеджмента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Среда управления проектами, виды систем управления проектами, специализированные КСУП-системы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Л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644736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247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9" y="616387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и содержание РПД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97A8390-E147-492A-8012-2111B227C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533904"/>
              </p:ext>
            </p:extLst>
          </p:nvPr>
        </p:nvGraphicFramePr>
        <p:xfrm>
          <a:off x="253999" y="1232772"/>
          <a:ext cx="11684000" cy="3936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774">
                  <a:extLst>
                    <a:ext uri="{9D8B030D-6E8A-4147-A177-3AD203B41FA5}">
                      <a16:colId xmlns:a16="http://schemas.microsoft.com/office/drawing/2014/main" val="1863453583"/>
                    </a:ext>
                  </a:extLst>
                </a:gridCol>
                <a:gridCol w="5909187">
                  <a:extLst>
                    <a:ext uri="{9D8B030D-6E8A-4147-A177-3AD203B41FA5}">
                      <a16:colId xmlns:a16="http://schemas.microsoft.com/office/drawing/2014/main" val="3662549353"/>
                    </a:ext>
                  </a:extLst>
                </a:gridCol>
                <a:gridCol w="806245">
                  <a:extLst>
                    <a:ext uri="{9D8B030D-6E8A-4147-A177-3AD203B41FA5}">
                      <a16:colId xmlns:a16="http://schemas.microsoft.com/office/drawing/2014/main" val="2854840004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41791266"/>
                    </a:ext>
                  </a:extLst>
                </a:gridCol>
                <a:gridCol w="849944">
                  <a:extLst>
                    <a:ext uri="{9D8B030D-6E8A-4147-A177-3AD203B41FA5}">
                      <a16:colId xmlns:a16="http://schemas.microsoft.com/office/drawing/2014/main" val="4031067356"/>
                    </a:ext>
                  </a:extLst>
                </a:gridCol>
                <a:gridCol w="774477">
                  <a:extLst>
                    <a:ext uri="{9D8B030D-6E8A-4147-A177-3AD203B41FA5}">
                      <a16:colId xmlns:a16="http://schemas.microsoft.com/office/drawing/2014/main" val="135841744"/>
                    </a:ext>
                  </a:extLst>
                </a:gridCol>
                <a:gridCol w="512456">
                  <a:extLst>
                    <a:ext uri="{9D8B030D-6E8A-4147-A177-3AD203B41FA5}">
                      <a16:colId xmlns:a16="http://schemas.microsoft.com/office/drawing/2014/main" val="2556029161"/>
                    </a:ext>
                  </a:extLst>
                </a:gridCol>
              </a:tblGrid>
              <a:tr h="751092"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dirty="0">
                          <a:latin typeface="+mn-lt"/>
                        </a:rPr>
                        <a:t>(тематические сущности)</a:t>
                      </a:r>
                      <a:endParaRPr lang="ru-RU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Форма занятия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Объём, </a:t>
                      </a:r>
                      <a:r>
                        <a:rPr lang="ru-RU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а.ч</a:t>
                      </a: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Компетенция 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53830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Промежуточная аттестация</a:t>
                      </a:r>
                    </a:p>
                  </a:txBody>
                  <a:tcPr marL="68580" marR="6858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70392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Консультирование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Консультирование перед экзаменом: разбор типовых билетов и практико-ориентированных заданий, ответы на вопросы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Конс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  <a:b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1.1-1.3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4.1-4.2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7.1, 7.3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962071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Экзамен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Итоговая проверка сформированности компетенций по дисциплине (билеты, практико-ориентированные задания)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Э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0,35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  <a:b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  <a:b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  <a:endParaRPr kumimoji="0" lang="ru-RU" sz="1400" b="0" i="0" u="none" strike="noStrike" kern="15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MS Mincho" panose="02020609040205080304" pitchFamily="49" charset="-128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1.1-1.3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4.1-4.2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7.1, 7.3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776294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Самоподготовка к экзамену</a:t>
                      </a:r>
                    </a:p>
                  </a:txBody>
                  <a:tcPr marL="6350" marR="6350" marT="0" marB="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Самостоятельная подготовка к промежуточной аттестации (повторение теории, отработка практических кейсов)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44,65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LC-1</a:t>
                      </a:r>
                      <a:b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LC-4</a:t>
                      </a:r>
                      <a:b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LC-7</a:t>
                      </a:r>
                      <a:b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</a:br>
                      <a:r>
                        <a:rPr kumimoji="0" lang="ru-RU" sz="1400" b="0" i="0" u="none" strike="noStrike" kern="15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MS Mincho" panose="02020609040205080304" pitchFamily="49" charset="-128"/>
                          <a:cs typeface="+mn-cs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1.1-1.3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4.1-4.2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7.1, 7.3</a:t>
                      </a:r>
                    </a:p>
                    <a:p>
                      <a:pPr marL="108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2.1-2.2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0800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+mn-cs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51918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149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80874"/>
            <a:ext cx="10400142" cy="878761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Место дисциплины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«Управление проектами в сфере ИИ»</a:t>
            </a:r>
            <a:br>
              <a:rPr lang="ru-RU" sz="3600" dirty="0">
                <a:solidFill>
                  <a:schemeClr val="bg1"/>
                </a:solidFill>
              </a:rPr>
            </a:br>
            <a:r>
              <a:rPr lang="ru-RU" sz="3600" dirty="0">
                <a:solidFill>
                  <a:schemeClr val="bg1"/>
                </a:solidFill>
              </a:rPr>
              <a:t>в учебном плане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91751" y="2231451"/>
            <a:ext cx="11208494" cy="4579254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490103AF-7765-4487-80D8-F3AA4B88B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9734201"/>
              </p:ext>
            </p:extLst>
          </p:nvPr>
        </p:nvGraphicFramePr>
        <p:xfrm>
          <a:off x="896141" y="3089048"/>
          <a:ext cx="10399714" cy="3102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9857">
                  <a:extLst>
                    <a:ext uri="{9D8B030D-6E8A-4147-A177-3AD203B41FA5}">
                      <a16:colId xmlns:a16="http://schemas.microsoft.com/office/drawing/2014/main" val="729368780"/>
                    </a:ext>
                  </a:extLst>
                </a:gridCol>
                <a:gridCol w="5199857">
                  <a:extLst>
                    <a:ext uri="{9D8B030D-6E8A-4147-A177-3AD203B41FA5}">
                      <a16:colId xmlns:a16="http://schemas.microsoft.com/office/drawing/2014/main" val="1109930941"/>
                    </a:ext>
                  </a:extLst>
                </a:gridCol>
              </a:tblGrid>
              <a:tr h="50635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Вид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нагрузки</a:t>
                      </a:r>
                      <a:endParaRPr lang="ru-RU" sz="11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Часы</a:t>
                      </a:r>
                      <a:endParaRPr lang="ru-RU" sz="11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198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Лекции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697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Лабораторные работы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085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Самостоятельная работа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13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0206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Консультирование перед экзаменом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32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Сдача экзамена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0,35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5611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Часы на контроль 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44,65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538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108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097093"/>
                  </a:ext>
                </a:extLst>
              </a:tr>
            </a:tbl>
          </a:graphicData>
        </a:graphic>
      </p:graphicFrame>
      <p:sp>
        <p:nvSpPr>
          <p:cNvPr id="9" name="Объект 11">
            <a:extLst>
              <a:ext uri="{FF2B5EF4-FFF2-40B4-BE49-F238E27FC236}">
                <a16:creationId xmlns:a16="http://schemas.microsoft.com/office/drawing/2014/main" id="{31E8909F-A678-4F47-B9A6-50ED96A9ABB0}"/>
              </a:ext>
            </a:extLst>
          </p:cNvPr>
          <p:cNvSpPr txBox="1">
            <a:spLocks/>
          </p:cNvSpPr>
          <p:nvPr/>
        </p:nvSpPr>
        <p:spPr>
          <a:xfrm>
            <a:off x="838201" y="2231451"/>
            <a:ext cx="10400141" cy="810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Дисциплина изучается в </a:t>
            </a:r>
            <a:r>
              <a:rPr lang="ru-RU" sz="2400" b="1" dirty="0"/>
              <a:t>7 семестре</a:t>
            </a:r>
            <a:r>
              <a:rPr lang="ru-RU" sz="2400" dirty="0"/>
              <a:t>.</a:t>
            </a:r>
            <a:br>
              <a:rPr lang="ru-RU" sz="2400" dirty="0"/>
            </a:br>
            <a:r>
              <a:rPr lang="ru-RU" sz="2400" dirty="0"/>
              <a:t>Трудоемкость - </a:t>
            </a:r>
            <a:r>
              <a:rPr lang="ru-RU" sz="2400" b="1" dirty="0"/>
              <a:t>108 ч.</a:t>
            </a:r>
            <a:r>
              <a:rPr lang="ru-RU" sz="2400" dirty="0"/>
              <a:t>, </a:t>
            </a:r>
            <a:r>
              <a:rPr lang="ru-RU" sz="2400" b="1" dirty="0"/>
              <a:t>3 </a:t>
            </a:r>
            <a:r>
              <a:rPr lang="ru-RU" sz="2400" b="1" dirty="0" err="1"/>
              <a:t>з.е</a:t>
            </a:r>
            <a:r>
              <a:rPr lang="ru-RU" sz="2400" b="1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82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799553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Пререквизиты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90F0551-C7BB-4994-A553-4D33184B7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630271"/>
              </p:ext>
            </p:extLst>
          </p:nvPr>
        </p:nvGraphicFramePr>
        <p:xfrm>
          <a:off x="304799" y="1480590"/>
          <a:ext cx="11633200" cy="532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869">
                  <a:extLst>
                    <a:ext uri="{9D8B030D-6E8A-4147-A177-3AD203B41FA5}">
                      <a16:colId xmlns:a16="http://schemas.microsoft.com/office/drawing/2014/main" val="805161589"/>
                    </a:ext>
                  </a:extLst>
                </a:gridCol>
                <a:gridCol w="1710266">
                  <a:extLst>
                    <a:ext uri="{9D8B030D-6E8A-4147-A177-3AD203B41FA5}">
                      <a16:colId xmlns:a16="http://schemas.microsoft.com/office/drawing/2014/main" val="366583178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035013367"/>
                    </a:ext>
                  </a:extLst>
                </a:gridCol>
                <a:gridCol w="1405465">
                  <a:extLst>
                    <a:ext uri="{9D8B030D-6E8A-4147-A177-3AD203B41FA5}">
                      <a16:colId xmlns:a16="http://schemas.microsoft.com/office/drawing/2014/main" val="218184386"/>
                    </a:ext>
                  </a:extLst>
                </a:gridCol>
              </a:tblGrid>
              <a:tr h="401227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Дисциплина / практика (</a:t>
                      </a:r>
                      <a:r>
                        <a:rPr lang="ru-RU" sz="14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пререквизит</a:t>
                      </a: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Компетенция КРМ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Освоенные ранее индикаторы (входной уровень)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Уровень на входе</a:t>
                      </a:r>
                      <a:endParaRPr lang="ru-RU" sz="14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368357934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Основы программной инженерии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LC-3.1. Представление об архитектуре и жизненном цикле систем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168654886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Технологическая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LC-5.1. Базовые инструменты промышленной разработки и сопровождения ПО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936221742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Введение в машинное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LC-2.1. Базовые эксперименты с моделями МО, оценка качества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920433177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Основы систем искусственного интеллекта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LC-8.1 (ML-1.1). Ориентация в основных направлениях и трендах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732973181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Искусственные нейронные сети и глубокое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LC-2.1–LC-2.2. Проведение экспериментов и оценка моделей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Б/С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8639709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Автоматизированное машинное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LC-2.1. Автоматизация экспериментов с моделями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858791631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Деловые коммуникации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SS-2.1. Эффективная коммуникация в проектной команде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687476152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Введение в профессиональную деятельность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SS-1.1. Понимание роли специалиста и этических принципов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02628179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Тестирование ПО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LC-5.1. Оценка качества инструментов и практик разработки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271286621"/>
                  </a:ext>
                </a:extLst>
              </a:tr>
              <a:tr h="947555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Системная инженерия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LC-1.1. Формализует бизнес-цели и вырабатывает под них стратегии внедрения ИИ</a:t>
                      </a:r>
                    </a:p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LC-1.2. Выбирает оптимальные технологии под конкретные требования проекта внедрения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159399614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107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929073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Постреквизиты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90F0551-C7BB-4994-A553-4D33184B7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388544"/>
              </p:ext>
            </p:extLst>
          </p:nvPr>
        </p:nvGraphicFramePr>
        <p:xfrm>
          <a:off x="304799" y="1892521"/>
          <a:ext cx="11633200" cy="3072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869">
                  <a:extLst>
                    <a:ext uri="{9D8B030D-6E8A-4147-A177-3AD203B41FA5}">
                      <a16:colId xmlns:a16="http://schemas.microsoft.com/office/drawing/2014/main" val="805161589"/>
                    </a:ext>
                  </a:extLst>
                </a:gridCol>
                <a:gridCol w="1710266">
                  <a:extLst>
                    <a:ext uri="{9D8B030D-6E8A-4147-A177-3AD203B41FA5}">
                      <a16:colId xmlns:a16="http://schemas.microsoft.com/office/drawing/2014/main" val="366583178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035013367"/>
                    </a:ext>
                  </a:extLst>
                </a:gridCol>
                <a:gridCol w="1405465">
                  <a:extLst>
                    <a:ext uri="{9D8B030D-6E8A-4147-A177-3AD203B41FA5}">
                      <a16:colId xmlns:a16="http://schemas.microsoft.com/office/drawing/2014/main" val="218184386"/>
                    </a:ext>
                  </a:extLst>
                </a:gridCol>
              </a:tblGrid>
              <a:tr h="401227">
                <a:tc>
                  <a:txBody>
                    <a:bodyPr/>
                    <a:lstStyle/>
                    <a:p>
                      <a:pPr marL="1800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Дисциплина / практика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(для которой данная дисциплина — </a:t>
                      </a:r>
                      <a:r>
                        <a:rPr lang="ru-RU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пререквизит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Компетенция КРМ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Индикаторы, формируемые в данной дисциплине как база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Выходной уровень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368357934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Производственная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LC-4.1–LC-4.3. Ведение проекта, координация команды, контроль реализации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168654886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Преддипломная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LC-4.1–LC-4.3. Управление процессом жизненного цикла ИИ-продукта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936221742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Выполнение и защита ВКР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LC-4, 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LC-4.1; LC-7.1. Планирование и экономическое обоснование проектной части работы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920433177"/>
                  </a:ext>
                </a:extLst>
              </a:tr>
              <a:tr h="41414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Рекомендательные системы и системы поддержки принятия решений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LC-1, 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LC-1.1–LC-1.3; LC-4.1. Постановка задачи и ведение проекта на прикладном материале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732973181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745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63861"/>
            <a:ext cx="10515600" cy="973902"/>
          </a:xfrm>
        </p:spPr>
        <p:txBody>
          <a:bodyPr/>
          <a:lstStyle/>
          <a:p>
            <a:r>
              <a:rPr lang="ru-RU" dirty="0"/>
              <a:t>Система оценки результатов обучения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167E85-D08C-4215-AB7F-0F4CA827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449062"/>
              </p:ext>
            </p:extLst>
          </p:nvPr>
        </p:nvGraphicFramePr>
        <p:xfrm>
          <a:off x="254000" y="1659645"/>
          <a:ext cx="11684000" cy="5015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7481082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771864243"/>
                    </a:ext>
                  </a:extLst>
                </a:gridCol>
                <a:gridCol w="5012267">
                  <a:extLst>
                    <a:ext uri="{9D8B030D-6E8A-4147-A177-3AD203B41FA5}">
                      <a16:colId xmlns:a16="http://schemas.microsoft.com/office/drawing/2014/main" val="276513553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369402958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3372626929"/>
                    </a:ext>
                  </a:extLst>
                </a:gridCol>
              </a:tblGrid>
              <a:tr h="4867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535136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1.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Проекты и среда управления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LC-1; SS-2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Определяет и формализует проблему предметной области, решение которой требует применения ИИ; формализует особенности проектов в сфере ИИ. Понимает общую цель команды, участвует в обсуждении задач планирования и реализации проекта.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Опрос / мини-эссе; практическое задание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343612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2.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содержанием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Проводит анализ требований к системе ИИ, оценивает и разрабатывает технические требования на основе формализованной постановки задачи. Формализует бизнес-цель заказчика, выявляет заинтересованные стороны и требования; разрабатывает ТЗ на систему ИИ с учётом специфики предметной области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(устав проекта,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WBS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325990"/>
                  </a:ext>
                </a:extLst>
              </a:tr>
              <a:tr h="139748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Модуль 3. </a:t>
                      </a: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Управление человеческими ресурсами 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LC-4; SS-2</a:t>
                      </a:r>
                      <a:endParaRPr lang="ru-RU" sz="16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Обеспечивает взаимодействие всех участников проекта. Осуществляет коммуникации между аналитиками данных, инженерами, разработчиками и руководителями подразделений для масштабирования ИИ-инициатив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Текущий</a:t>
                      </a:r>
                      <a:endParaRPr lang="ru-RU" sz="16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Практическое задание; лабораторная работа (матрица </a:t>
                      </a:r>
                      <a:r>
                        <a:rPr lang="en-US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RACI</a:t>
                      </a: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083065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06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63861"/>
            <a:ext cx="10515600" cy="973902"/>
          </a:xfrm>
        </p:spPr>
        <p:txBody>
          <a:bodyPr/>
          <a:lstStyle/>
          <a:p>
            <a:r>
              <a:rPr lang="ru-RU" dirty="0"/>
              <a:t>Система оценки результатов обучения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167E85-D08C-4215-AB7F-0F4CA827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892900"/>
              </p:ext>
            </p:extLst>
          </p:nvPr>
        </p:nvGraphicFramePr>
        <p:xfrm>
          <a:off x="254000" y="1659645"/>
          <a:ext cx="11684000" cy="4872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867">
                  <a:extLst>
                    <a:ext uri="{9D8B030D-6E8A-4147-A177-3AD203B41FA5}">
                      <a16:colId xmlns:a16="http://schemas.microsoft.com/office/drawing/2014/main" val="4274810821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771864243"/>
                    </a:ext>
                  </a:extLst>
                </a:gridCol>
                <a:gridCol w="5130800">
                  <a:extLst>
                    <a:ext uri="{9D8B030D-6E8A-4147-A177-3AD203B41FA5}">
                      <a16:colId xmlns:a16="http://schemas.microsoft.com/office/drawing/2014/main" val="2765135530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2369402958"/>
                    </a:ext>
                  </a:extLst>
                </a:gridCol>
                <a:gridCol w="2167467">
                  <a:extLst>
                    <a:ext uri="{9D8B030D-6E8A-4147-A177-3AD203B41FA5}">
                      <a16:colId xmlns:a16="http://schemas.microsoft.com/office/drawing/2014/main" val="3372626929"/>
                    </a:ext>
                  </a:extLst>
                </a:gridCol>
              </a:tblGrid>
              <a:tr h="4867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535136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4.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сроками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Осуществляет ведение проекта в области ИИ, планирование и контроль задач, оценку ресурсов. Подбирает методологию (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CRISP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DM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CRISP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ML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Q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)) и организует процесс разработки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(сетевой график, диаграмма </a:t>
                      </a:r>
                      <a:r>
                        <a:rPr lang="ru-RU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Ганта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343612"/>
                  </a:ext>
                </a:extLst>
              </a:tr>
              <a:tr h="1482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5.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стоимостью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Знает ключевые технико-экономические показатели внедрения ИИ. Строит расчётные модели для оценки технико-экономических показателей ИИ и применяет их для прогнозирования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(бюджет по методике освоенного объёма)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325990"/>
                  </a:ext>
                </a:extLst>
              </a:tr>
              <a:tr h="13974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6.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качеством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Подбирает методологию разработки системы ИИ. Организует процесс контроля качества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-продукта, применяет инструменты </a:t>
                      </a:r>
                      <a:r>
                        <a:rPr lang="ru-RU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приоритизации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дефектов и метрики качества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ML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-моделей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Рубежный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;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Коллоквиум / практическое задание; лабораторная работа (план управления качеством)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083065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263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42" y="863861"/>
            <a:ext cx="10515600" cy="973902"/>
          </a:xfrm>
        </p:spPr>
        <p:txBody>
          <a:bodyPr/>
          <a:lstStyle/>
          <a:p>
            <a:r>
              <a:rPr lang="ru-RU" dirty="0"/>
              <a:t>Система оценки результатов обучения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167E85-D08C-4215-AB7F-0F4CA8272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759897"/>
              </p:ext>
            </p:extLst>
          </p:nvPr>
        </p:nvGraphicFramePr>
        <p:xfrm>
          <a:off x="254000" y="1659646"/>
          <a:ext cx="11684000" cy="4946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4274810821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771864243"/>
                    </a:ext>
                  </a:extLst>
                </a:gridCol>
                <a:gridCol w="4226361">
                  <a:extLst>
                    <a:ext uri="{9D8B030D-6E8A-4147-A177-3AD203B41FA5}">
                      <a16:colId xmlns:a16="http://schemas.microsoft.com/office/drawing/2014/main" val="2765135530"/>
                    </a:ext>
                  </a:extLst>
                </a:gridCol>
                <a:gridCol w="1717239">
                  <a:extLst>
                    <a:ext uri="{9D8B030D-6E8A-4147-A177-3AD203B41FA5}">
                      <a16:colId xmlns:a16="http://schemas.microsoft.com/office/drawing/2014/main" val="2369402958"/>
                    </a:ext>
                  </a:extLst>
                </a:gridCol>
                <a:gridCol w="2421467">
                  <a:extLst>
                    <a:ext uri="{9D8B030D-6E8A-4147-A177-3AD203B41FA5}">
                      <a16:colId xmlns:a16="http://schemas.microsoft.com/office/drawing/2014/main" val="3372626929"/>
                    </a:ext>
                  </a:extLst>
                </a:gridCol>
              </a:tblGrid>
              <a:tr h="4896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535136"/>
                  </a:ext>
                </a:extLst>
              </a:tr>
              <a:tr h="12407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7. 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 рисками и взаимодействием в проекте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Знает ключевые риски внедрения ИИ. Строит расчётные оценки экономического ущерба и разрабатывает модели экономических эффектов внедрения 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(реестр рисков </a:t>
                      </a: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TOP</a:t>
                      </a: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-10)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343612"/>
                  </a:ext>
                </a:extLst>
              </a:tr>
              <a:tr h="1075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8.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 проектами в сфере искусственного интеллекта: методы, подходы, инструментарий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Организует процесс разработки системы ИИ по гибкой методологии. Подбирает методологию управления ИИ-проектом и практически реализует её. Демонстрирует эффективное владение инструментами коммуникаций, проектного управления и контроля изменений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Рубежный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;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Коллоквиум / решение практического кейса; лабораторная работа (спринт, ретроспектива)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3325990"/>
                  </a:ext>
                </a:extLst>
              </a:tr>
              <a:tr h="9864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Промежуточная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аттестация</a:t>
                      </a:r>
                      <a:endParaRPr lang="ru-RU" sz="1600" b="1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LC-1, LC-4, LC-7, SS-2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Итоговая проверка сформированности компетенций дисциплины на уровне «средний»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Промежуточный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Билеты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+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практико-ориентированное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задание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3745303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06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4C6743-F301-E900-1780-7132452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75" y="1531743"/>
            <a:ext cx="3950825" cy="554262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A99AA-9194-4CB0-7B95-EC429B313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1867175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solidFill>
                  <a:srgbClr val="014189"/>
                </a:solidFill>
              </a:rPr>
              <a:t>Спасибо</a:t>
            </a:r>
            <a:br>
              <a:rPr lang="ru-RU" dirty="0">
                <a:solidFill>
                  <a:srgbClr val="014189"/>
                </a:solidFill>
              </a:rPr>
            </a:br>
            <a:r>
              <a:rPr lang="ru-RU" dirty="0">
                <a:solidFill>
                  <a:srgbClr val="014189"/>
                </a:solidFill>
              </a:rPr>
              <a:t>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EB930A-16BD-7DC1-CCCA-29C950911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3822096"/>
            <a:ext cx="9144000" cy="658857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rgbClr val="014189"/>
                </a:solidFill>
              </a:rPr>
              <a:t>Группа №40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5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2952</Words>
  <Application>Microsoft Office PowerPoint</Application>
  <PresentationFormat>Широкоэкранный</PresentationFormat>
  <Paragraphs>563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Aptos</vt:lpstr>
      <vt:lpstr>Arial</vt:lpstr>
      <vt:lpstr>Golos Text</vt:lpstr>
      <vt:lpstr>Golos Text DemiBold</vt:lpstr>
      <vt:lpstr>Тема Office</vt:lpstr>
      <vt:lpstr>Рабочий проект РПД «Управление проектами в сфере ИИ»</vt:lpstr>
      <vt:lpstr>Специфика управления проектами в сфере ИИ</vt:lpstr>
      <vt:lpstr>Цель дисциплины «Управление проектами в сфере ИИ»</vt:lpstr>
      <vt:lpstr>Задачи дисциплины «Управление проектами в сфере ИИ»</vt:lpstr>
      <vt:lpstr>Профильные роли КРМ</vt:lpstr>
      <vt:lpstr>Компетенции и индикаторы по КРМ</vt:lpstr>
      <vt:lpstr>Компетенции и индикаторы по КРМ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Место дисциплины «Управление проектами в сфере ИИ» в учебном плане</vt:lpstr>
      <vt:lpstr>Пререквизиты</vt:lpstr>
      <vt:lpstr>Постреквизиты</vt:lpstr>
      <vt:lpstr>Система оценки результатов обучения</vt:lpstr>
      <vt:lpstr>Система оценки результатов обучения</vt:lpstr>
      <vt:lpstr>Система оценки результатов обучения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Рабочий проект РПД «Управление проектами в сфере ИИ»</dc:title>
  <dc:creator>Будуева Ольга Олеговна</dc:creator>
  <cp:lastModifiedBy>An</cp:lastModifiedBy>
  <cp:revision>39</cp:revision>
  <dcterms:created xsi:type="dcterms:W3CDTF">2026-06-15T11:15:35Z</dcterms:created>
  <dcterms:modified xsi:type="dcterms:W3CDTF">2026-07-14T16:26:42Z</dcterms:modified>
</cp:coreProperties>
</file>